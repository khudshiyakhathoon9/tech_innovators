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16256000" cy="9144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AE2E9"/>
          </a:solidFill>
        </a:fill>
      </a:tcStyle>
    </a:wholeTbl>
    <a:band2H>
      <a:tcTxStyle b="def" i="def"/>
      <a:tcStyle>
        <a:tcBdr/>
        <a:fill>
          <a:solidFill>
            <a:srgbClr val="EDF1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" name="Shape 2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PTIST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12800" y="122766"/>
            <a:ext cx="14630400" cy="20108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12800" y="2133600"/>
            <a:ext cx="14630400" cy="7010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7857066" y="8231716"/>
            <a:ext cx="3793068" cy="486834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09-05-26 at 6.06 PM.jpeg" descr="Image 09-05-26 at 6.06 PM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133" y="0"/>
            <a:ext cx="16183733" cy="9144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0"/>
          <p:cNvSpPr/>
          <p:nvPr/>
        </p:nvSpPr>
        <p:spPr>
          <a:xfrm>
            <a:off x="0" y="0"/>
            <a:ext cx="898398" cy="914400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" name="Text 1"/>
          <p:cNvSpPr txBox="1"/>
          <p:nvPr/>
        </p:nvSpPr>
        <p:spPr>
          <a:xfrm>
            <a:off x="1116584" y="398506"/>
            <a:ext cx="5579170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2400">
                <a:solidFill>
                  <a:srgbClr val="1F2937"/>
                </a:solidFill>
              </a:defRPr>
            </a:pPr>
            <a:r>
              <a:t>Theme:</a:t>
            </a:r>
            <a:r>
              <a:rPr b="0"/>
              <a:t> Energy Conservation and Digitization</a:t>
            </a:r>
          </a:p>
        </p:txBody>
      </p:sp>
      <p:sp>
        <p:nvSpPr>
          <p:cNvPr id="31" name="Text 2"/>
          <p:cNvSpPr txBox="1"/>
          <p:nvPr/>
        </p:nvSpPr>
        <p:spPr>
          <a:xfrm>
            <a:off x="3837997" y="1046658"/>
            <a:ext cx="9473705" cy="510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lnSpc>
                <a:spcPct val="120000"/>
              </a:lnSpc>
              <a:defRPr sz="4000">
                <a:solidFill>
                  <a:srgbClr val="1F2937"/>
                </a:solidFill>
              </a:defRPr>
            </a:lvl1pPr>
          </a:lstStyle>
          <a:p>
            <a:pPr>
              <a:defRPr b="1"/>
            </a:pPr>
            <a:r>
              <a:rPr b="0"/>
              <a:t> INTELLIGENT ENERGY OPTIMIZATION SYSTEM</a:t>
            </a:r>
          </a:p>
        </p:txBody>
      </p:sp>
      <p:sp>
        <p:nvSpPr>
          <p:cNvPr id="32" name="Shape 3"/>
          <p:cNvSpPr/>
          <p:nvPr/>
        </p:nvSpPr>
        <p:spPr>
          <a:xfrm>
            <a:off x="1193800" y="1905000"/>
            <a:ext cx="7048500" cy="18415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" name="Shape 4"/>
          <p:cNvSpPr/>
          <p:nvPr/>
        </p:nvSpPr>
        <p:spPr>
          <a:xfrm>
            <a:off x="1447800" y="2158998"/>
            <a:ext cx="457200" cy="4286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28" fill="norm" stroke="1" extrusionOk="0">
                <a:moveTo>
                  <a:pt x="19883" y="300"/>
                </a:moveTo>
                <a:cubicBezTo>
                  <a:pt x="20153" y="27"/>
                  <a:pt x="20545" y="-72"/>
                  <a:pt x="20908" y="54"/>
                </a:cubicBezTo>
                <a:cubicBezTo>
                  <a:pt x="21322" y="202"/>
                  <a:pt x="21600" y="614"/>
                  <a:pt x="21600" y="1076"/>
                </a:cubicBezTo>
                <a:lnTo>
                  <a:pt x="21600" y="9459"/>
                </a:lnTo>
                <a:cubicBezTo>
                  <a:pt x="21600" y="15343"/>
                  <a:pt x="17040" y="20093"/>
                  <a:pt x="11526" y="20093"/>
                </a:cubicBezTo>
                <a:cubicBezTo>
                  <a:pt x="8277" y="20093"/>
                  <a:pt x="5476" y="17873"/>
                  <a:pt x="4459" y="14769"/>
                </a:cubicBezTo>
                <a:cubicBezTo>
                  <a:pt x="2966" y="16150"/>
                  <a:pt x="2025" y="18182"/>
                  <a:pt x="2025" y="20452"/>
                </a:cubicBezTo>
                <a:cubicBezTo>
                  <a:pt x="2025" y="21048"/>
                  <a:pt x="1574" y="21528"/>
                  <a:pt x="1012" y="21528"/>
                </a:cubicBezTo>
                <a:cubicBezTo>
                  <a:pt x="451" y="21528"/>
                  <a:pt x="0" y="21048"/>
                  <a:pt x="0" y="20452"/>
                </a:cubicBezTo>
                <a:cubicBezTo>
                  <a:pt x="0" y="17092"/>
                  <a:pt x="1612" y="14132"/>
                  <a:pt x="4054" y="12392"/>
                </a:cubicBezTo>
                <a:cubicBezTo>
                  <a:pt x="5543" y="11333"/>
                  <a:pt x="7320" y="10764"/>
                  <a:pt x="9112" y="10764"/>
                </a:cubicBezTo>
                <a:lnTo>
                  <a:pt x="12488" y="10764"/>
                </a:lnTo>
                <a:cubicBezTo>
                  <a:pt x="13049" y="10764"/>
                  <a:pt x="13500" y="10284"/>
                  <a:pt x="13500" y="9687"/>
                </a:cubicBezTo>
                <a:cubicBezTo>
                  <a:pt x="13500" y="9091"/>
                  <a:pt x="13049" y="8611"/>
                  <a:pt x="12488" y="8611"/>
                </a:cubicBezTo>
                <a:lnTo>
                  <a:pt x="9112" y="8611"/>
                </a:lnTo>
                <a:cubicBezTo>
                  <a:pt x="7438" y="8611"/>
                  <a:pt x="5851" y="9006"/>
                  <a:pt x="4430" y="9710"/>
                </a:cubicBezTo>
                <a:cubicBezTo>
                  <a:pt x="5413" y="6570"/>
                  <a:pt x="8193" y="4305"/>
                  <a:pt x="11475" y="4305"/>
                </a:cubicBezTo>
                <a:cubicBezTo>
                  <a:pt x="14276" y="4305"/>
                  <a:pt x="16360" y="3314"/>
                  <a:pt x="17748" y="2332"/>
                </a:cubicBezTo>
                <a:cubicBezTo>
                  <a:pt x="18558" y="1758"/>
                  <a:pt x="19246" y="1072"/>
                  <a:pt x="19887" y="300"/>
                </a:cubicBezTo>
                <a:close/>
              </a:path>
            </a:pathLst>
          </a:custGeom>
          <a:solidFill>
            <a:srgbClr val="27AE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" name="Text 5"/>
          <p:cNvSpPr txBox="1"/>
          <p:nvPr/>
        </p:nvSpPr>
        <p:spPr>
          <a:xfrm>
            <a:off x="2057400" y="2210941"/>
            <a:ext cx="1664990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lnSpc>
                <a:spcPct val="130000"/>
              </a:lnSpc>
              <a:defRPr b="1" sz="2800">
                <a:solidFill>
                  <a:srgbClr val="2F5496"/>
                </a:solidFill>
              </a:defRPr>
            </a:lvl1pPr>
          </a:lstStyle>
          <a:p>
            <a:pPr/>
            <a:r>
              <a:t>Our Theme</a:t>
            </a:r>
          </a:p>
        </p:txBody>
      </p:sp>
      <p:sp>
        <p:nvSpPr>
          <p:cNvPr id="35" name="Text 6"/>
          <p:cNvSpPr txBox="1"/>
          <p:nvPr/>
        </p:nvSpPr>
        <p:spPr>
          <a:xfrm>
            <a:off x="1447800" y="2692400"/>
            <a:ext cx="6540500" cy="677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0000"/>
              </a:lnSpc>
              <a:defRPr sz="2000">
                <a:solidFill>
                  <a:srgbClr val="1F2937"/>
                </a:solidFill>
              </a:defRPr>
            </a:lvl1pPr>
          </a:lstStyle>
          <a:p>
            <a:pPr/>
            <a:r>
              <a:t>Smart energy management using AI, IoT, automation &amp; behavioral motivation</a:t>
            </a:r>
          </a:p>
        </p:txBody>
      </p:sp>
      <p:sp>
        <p:nvSpPr>
          <p:cNvPr id="36" name="Shape 7"/>
          <p:cNvSpPr/>
          <p:nvPr/>
        </p:nvSpPr>
        <p:spPr>
          <a:xfrm>
            <a:off x="8496300" y="1905000"/>
            <a:ext cx="7048500" cy="18415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Shape 8"/>
          <p:cNvSpPr/>
          <p:nvPr/>
        </p:nvSpPr>
        <p:spPr>
          <a:xfrm>
            <a:off x="8750249" y="2159000"/>
            <a:ext cx="457271" cy="4286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44" h="21600" fill="norm" stroke="1" extrusionOk="0">
                <a:moveTo>
                  <a:pt x="10723" y="0"/>
                </a:moveTo>
                <a:cubicBezTo>
                  <a:pt x="11339" y="0"/>
                  <a:pt x="11904" y="364"/>
                  <a:pt x="12197" y="945"/>
                </a:cubicBezTo>
                <a:lnTo>
                  <a:pt x="21242" y="18945"/>
                </a:lnTo>
                <a:cubicBezTo>
                  <a:pt x="21523" y="19503"/>
                  <a:pt x="21510" y="20178"/>
                  <a:pt x="21209" y="20722"/>
                </a:cubicBezTo>
                <a:cubicBezTo>
                  <a:pt x="20907" y="21267"/>
                  <a:pt x="20359" y="21600"/>
                  <a:pt x="19768" y="21600"/>
                </a:cubicBezTo>
                <a:lnTo>
                  <a:pt x="1678" y="21600"/>
                </a:lnTo>
                <a:cubicBezTo>
                  <a:pt x="1087" y="21600"/>
                  <a:pt x="543" y="21267"/>
                  <a:pt x="237" y="20722"/>
                </a:cubicBezTo>
                <a:cubicBezTo>
                  <a:pt x="-69" y="20178"/>
                  <a:pt x="-77" y="19503"/>
                  <a:pt x="204" y="18945"/>
                </a:cubicBezTo>
                <a:lnTo>
                  <a:pt x="9249" y="945"/>
                </a:lnTo>
                <a:cubicBezTo>
                  <a:pt x="9542" y="364"/>
                  <a:pt x="10107" y="0"/>
                  <a:pt x="10723" y="0"/>
                </a:cubicBezTo>
                <a:close/>
                <a:moveTo>
                  <a:pt x="10723" y="7560"/>
                </a:moveTo>
                <a:cubicBezTo>
                  <a:pt x="10166" y="7560"/>
                  <a:pt x="9718" y="8042"/>
                  <a:pt x="9718" y="8640"/>
                </a:cubicBezTo>
                <a:lnTo>
                  <a:pt x="9718" y="13680"/>
                </a:lnTo>
                <a:cubicBezTo>
                  <a:pt x="9718" y="14279"/>
                  <a:pt x="10166" y="14760"/>
                  <a:pt x="10723" y="14760"/>
                </a:cubicBezTo>
                <a:cubicBezTo>
                  <a:pt x="11280" y="14760"/>
                  <a:pt x="11728" y="14279"/>
                  <a:pt x="11728" y="13680"/>
                </a:cubicBezTo>
                <a:lnTo>
                  <a:pt x="11728" y="8640"/>
                </a:lnTo>
                <a:cubicBezTo>
                  <a:pt x="11728" y="8042"/>
                  <a:pt x="11280" y="7560"/>
                  <a:pt x="10723" y="7560"/>
                </a:cubicBezTo>
                <a:close/>
                <a:moveTo>
                  <a:pt x="11841" y="17280"/>
                </a:moveTo>
                <a:cubicBezTo>
                  <a:pt x="11867" y="16834"/>
                  <a:pt x="11660" y="16410"/>
                  <a:pt x="11304" y="16178"/>
                </a:cubicBezTo>
                <a:cubicBezTo>
                  <a:pt x="10948" y="15947"/>
                  <a:pt x="10502" y="15947"/>
                  <a:pt x="10146" y="16178"/>
                </a:cubicBezTo>
                <a:cubicBezTo>
                  <a:pt x="9791" y="16410"/>
                  <a:pt x="9584" y="16834"/>
                  <a:pt x="9609" y="17280"/>
                </a:cubicBezTo>
                <a:cubicBezTo>
                  <a:pt x="9584" y="17726"/>
                  <a:pt x="9791" y="18150"/>
                  <a:pt x="10146" y="18382"/>
                </a:cubicBezTo>
                <a:cubicBezTo>
                  <a:pt x="10502" y="18613"/>
                  <a:pt x="10948" y="18613"/>
                  <a:pt x="11304" y="18382"/>
                </a:cubicBezTo>
                <a:cubicBezTo>
                  <a:pt x="11660" y="18150"/>
                  <a:pt x="11867" y="17726"/>
                  <a:pt x="11841" y="17280"/>
                </a:cubicBezTo>
                <a:close/>
              </a:path>
            </a:pathLst>
          </a:custGeom>
          <a:solidFill>
            <a:srgbClr val="E74C3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" name="Text 9"/>
          <p:cNvSpPr txBox="1"/>
          <p:nvPr/>
        </p:nvSpPr>
        <p:spPr>
          <a:xfrm>
            <a:off x="9359900" y="2210941"/>
            <a:ext cx="2649141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lnSpc>
                <a:spcPct val="130000"/>
              </a:lnSpc>
              <a:defRPr b="1" sz="2800">
                <a:solidFill>
                  <a:srgbClr val="2F5496"/>
                </a:solidFill>
              </a:defRPr>
            </a:lvl1pPr>
          </a:lstStyle>
          <a:p>
            <a:pPr/>
            <a:r>
              <a:t>The Core Problem</a:t>
            </a:r>
          </a:p>
        </p:txBody>
      </p:sp>
      <p:sp>
        <p:nvSpPr>
          <p:cNvPr id="39" name="Text 10"/>
          <p:cNvSpPr txBox="1"/>
          <p:nvPr/>
        </p:nvSpPr>
        <p:spPr>
          <a:xfrm>
            <a:off x="8750300" y="2692400"/>
            <a:ext cx="6540500" cy="677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0000"/>
              </a:lnSpc>
              <a:defRPr sz="2000">
                <a:solidFill>
                  <a:srgbClr val="1F2937"/>
                </a:solidFill>
              </a:defRPr>
            </a:lvl1pPr>
          </a:lstStyle>
          <a:p>
            <a:pPr/>
            <a:r>
              <a:t>Monitoring systems track energy but fail to drive real behavioral change</a:t>
            </a:r>
          </a:p>
        </p:txBody>
      </p:sp>
      <p:sp>
        <p:nvSpPr>
          <p:cNvPr id="40" name="Text 11"/>
          <p:cNvSpPr txBox="1"/>
          <p:nvPr/>
        </p:nvSpPr>
        <p:spPr>
          <a:xfrm>
            <a:off x="1193800" y="4014341"/>
            <a:ext cx="4228852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lnSpc>
                <a:spcPct val="130000"/>
              </a:lnSpc>
              <a:defRPr b="1" sz="2800">
                <a:solidFill>
                  <a:srgbClr val="2F5496"/>
                </a:solidFill>
              </a:defRPr>
            </a:lvl1pPr>
          </a:lstStyle>
          <a:p>
            <a:pPr/>
            <a:r>
              <a:t>Why Existing Systems Failed:</a:t>
            </a:r>
          </a:p>
        </p:txBody>
      </p:sp>
      <p:sp>
        <p:nvSpPr>
          <p:cNvPr id="41" name="Text 12"/>
          <p:cNvSpPr txBox="1"/>
          <p:nvPr/>
        </p:nvSpPr>
        <p:spPr>
          <a:xfrm>
            <a:off x="1193800" y="4572000"/>
            <a:ext cx="7048500" cy="1107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17500" indent="-317500">
              <a:lnSpc>
                <a:spcPct val="150000"/>
              </a:lnSpc>
              <a:buSzPct val="100000"/>
              <a:buChar char="•"/>
              <a:defRPr sz="2000">
                <a:solidFill>
                  <a:srgbClr val="1F2937"/>
                </a:solidFill>
              </a:defRPr>
            </a:pPr>
            <a:r>
              <a:t>Users ignored repetitive alerts and dashboards</a:t>
            </a:r>
          </a:p>
          <a:p>
            <a:pPr marL="317500" indent="-317500">
              <a:lnSpc>
                <a:spcPct val="150000"/>
              </a:lnSpc>
              <a:buSzPct val="100000"/>
              <a:buChar char="•"/>
              <a:defRPr sz="2000">
                <a:solidFill>
                  <a:srgbClr val="1F2937"/>
                </a:solidFill>
              </a:defRPr>
            </a:pPr>
            <a:r>
              <a:t>No motivation or rewards were provided</a:t>
            </a:r>
          </a:p>
          <a:p>
            <a:pPr marL="317500" indent="-317500">
              <a:lnSpc>
                <a:spcPct val="150000"/>
              </a:lnSpc>
              <a:buSzPct val="100000"/>
              <a:buChar char="•"/>
              <a:defRPr sz="2000">
                <a:solidFill>
                  <a:srgbClr val="1F2937"/>
                </a:solidFill>
              </a:defRPr>
            </a:pPr>
            <a:r>
              <a:t>Monitoring did not lead to real action</a:t>
            </a:r>
          </a:p>
        </p:txBody>
      </p:sp>
      <p:sp>
        <p:nvSpPr>
          <p:cNvPr id="42" name="Text 13"/>
          <p:cNvSpPr txBox="1"/>
          <p:nvPr/>
        </p:nvSpPr>
        <p:spPr>
          <a:xfrm>
            <a:off x="8496300" y="4572000"/>
            <a:ext cx="7048500" cy="677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17500" indent="-317500">
              <a:lnSpc>
                <a:spcPct val="150000"/>
              </a:lnSpc>
              <a:buSzPct val="100000"/>
              <a:buChar char="•"/>
              <a:defRPr sz="2000">
                <a:solidFill>
                  <a:srgbClr val="1F2937"/>
                </a:solidFill>
              </a:defRPr>
            </a:pPr>
            <a:r>
              <a:t>Energy consumption patterns continued</a:t>
            </a:r>
          </a:p>
          <a:p>
            <a:pPr marL="317500" indent="-317500">
              <a:lnSpc>
                <a:spcPct val="150000"/>
              </a:lnSpc>
              <a:buSzPct val="100000"/>
              <a:buChar char="•"/>
              <a:defRPr sz="2000">
                <a:solidFill>
                  <a:srgbClr val="1F2937"/>
                </a:solidFill>
              </a:defRPr>
            </a:pPr>
            <a:r>
              <a:t>Occupancy patterns were not considered</a:t>
            </a:r>
          </a:p>
        </p:txBody>
      </p:sp>
      <p:sp>
        <p:nvSpPr>
          <p:cNvPr id="43" name="Shape 14"/>
          <p:cNvSpPr/>
          <p:nvPr/>
        </p:nvSpPr>
        <p:spPr>
          <a:xfrm>
            <a:off x="1193800" y="7112000"/>
            <a:ext cx="14351000" cy="762000"/>
          </a:xfrm>
          <a:prstGeom prst="roundRect">
            <a:avLst>
              <a:gd name="adj" fmla="val 8000"/>
            </a:avLst>
          </a:prstGeom>
          <a:solidFill>
            <a:srgbClr val="2F549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" name="Text 15"/>
          <p:cNvSpPr txBox="1"/>
          <p:nvPr/>
        </p:nvSpPr>
        <p:spPr>
          <a:xfrm>
            <a:off x="1447800" y="7346032"/>
            <a:ext cx="13843000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2200">
                <a:solidFill>
                  <a:srgbClr val="FFFFFF"/>
                </a:solidFill>
              </a:defRPr>
            </a:lvl1pPr>
          </a:lstStyle>
          <a:p>
            <a:pPr/>
            <a:r>
              <a:t>"Monitoring alone could not create real energy-saving behavior."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0"/>
          <p:cNvSpPr/>
          <p:nvPr/>
        </p:nvSpPr>
        <p:spPr>
          <a:xfrm>
            <a:off x="0" y="0"/>
            <a:ext cx="898398" cy="914400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" name="Text 1"/>
          <p:cNvSpPr txBox="1"/>
          <p:nvPr/>
        </p:nvSpPr>
        <p:spPr>
          <a:xfrm>
            <a:off x="1116584" y="398506"/>
            <a:ext cx="5579170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2400">
                <a:solidFill>
                  <a:srgbClr val="1F2937"/>
                </a:solidFill>
              </a:defRPr>
            </a:pPr>
            <a:r>
              <a:t>Theme:</a:t>
            </a:r>
            <a:r>
              <a:rPr b="0"/>
              <a:t> Energy Conservation and Digitization</a:t>
            </a:r>
          </a:p>
        </p:txBody>
      </p:sp>
      <p:sp>
        <p:nvSpPr>
          <p:cNvPr id="48" name="Text 2"/>
          <p:cNvSpPr txBox="1"/>
          <p:nvPr/>
        </p:nvSpPr>
        <p:spPr>
          <a:xfrm>
            <a:off x="6726503" y="1046658"/>
            <a:ext cx="3696693" cy="510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lnSpc>
                <a:spcPct val="120000"/>
              </a:lnSpc>
              <a:defRPr b="1" sz="4000">
                <a:solidFill>
                  <a:srgbClr val="1F2937"/>
                </a:solidFill>
              </a:defRPr>
            </a:lvl1pPr>
          </a:lstStyle>
          <a:p>
            <a:pPr/>
            <a:r>
              <a:t>Previous Solution</a:t>
            </a:r>
          </a:p>
        </p:txBody>
      </p:sp>
      <p:sp>
        <p:nvSpPr>
          <p:cNvPr id="49" name="Shape 3"/>
          <p:cNvSpPr/>
          <p:nvPr/>
        </p:nvSpPr>
        <p:spPr>
          <a:xfrm>
            <a:off x="1193800" y="1905000"/>
            <a:ext cx="7048500" cy="48260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0" name="Shape 4"/>
          <p:cNvSpPr/>
          <p:nvPr/>
        </p:nvSpPr>
        <p:spPr>
          <a:xfrm>
            <a:off x="1447800" y="2120900"/>
            <a:ext cx="406400" cy="381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700" y="0"/>
                </a:moveTo>
                <a:cubicBezTo>
                  <a:pt x="1211" y="0"/>
                  <a:pt x="0" y="1292"/>
                  <a:pt x="0" y="2880"/>
                </a:cubicBezTo>
                <a:lnTo>
                  <a:pt x="0" y="14400"/>
                </a:lnTo>
                <a:cubicBezTo>
                  <a:pt x="0" y="15988"/>
                  <a:pt x="1211" y="17280"/>
                  <a:pt x="2700" y="17280"/>
                </a:cubicBezTo>
                <a:lnTo>
                  <a:pt x="8775" y="17280"/>
                </a:lnTo>
                <a:lnTo>
                  <a:pt x="8100" y="19440"/>
                </a:lnTo>
                <a:lnTo>
                  <a:pt x="5062" y="19440"/>
                </a:lnTo>
                <a:cubicBezTo>
                  <a:pt x="4501" y="19440"/>
                  <a:pt x="4050" y="19921"/>
                  <a:pt x="4050" y="20520"/>
                </a:cubicBezTo>
                <a:cubicBezTo>
                  <a:pt x="4050" y="21119"/>
                  <a:pt x="4501" y="21600"/>
                  <a:pt x="5062" y="21600"/>
                </a:cubicBezTo>
                <a:lnTo>
                  <a:pt x="16538" y="21600"/>
                </a:lnTo>
                <a:cubicBezTo>
                  <a:pt x="17099" y="21600"/>
                  <a:pt x="17550" y="21119"/>
                  <a:pt x="17550" y="20520"/>
                </a:cubicBezTo>
                <a:cubicBezTo>
                  <a:pt x="17550" y="19921"/>
                  <a:pt x="17099" y="19440"/>
                  <a:pt x="16538" y="19440"/>
                </a:cubicBezTo>
                <a:lnTo>
                  <a:pt x="13500" y="19440"/>
                </a:lnTo>
                <a:lnTo>
                  <a:pt x="12825" y="17280"/>
                </a:lnTo>
                <a:lnTo>
                  <a:pt x="18900" y="17280"/>
                </a:lnTo>
                <a:cubicBezTo>
                  <a:pt x="20389" y="17280"/>
                  <a:pt x="21600" y="15988"/>
                  <a:pt x="21600" y="14400"/>
                </a:cubicBezTo>
                <a:lnTo>
                  <a:pt x="21600" y="2880"/>
                </a:lnTo>
                <a:cubicBezTo>
                  <a:pt x="21600" y="1292"/>
                  <a:pt x="20389" y="0"/>
                  <a:pt x="18900" y="0"/>
                </a:cubicBezTo>
                <a:lnTo>
                  <a:pt x="2700" y="0"/>
                </a:lnTo>
                <a:close/>
                <a:moveTo>
                  <a:pt x="4050" y="2880"/>
                </a:moveTo>
                <a:lnTo>
                  <a:pt x="17550" y="2880"/>
                </a:lnTo>
                <a:cubicBezTo>
                  <a:pt x="18297" y="2880"/>
                  <a:pt x="18900" y="3524"/>
                  <a:pt x="18900" y="4320"/>
                </a:cubicBezTo>
                <a:lnTo>
                  <a:pt x="18900" y="11520"/>
                </a:lnTo>
                <a:cubicBezTo>
                  <a:pt x="18900" y="12316"/>
                  <a:pt x="18297" y="12960"/>
                  <a:pt x="17550" y="12960"/>
                </a:cubicBezTo>
                <a:lnTo>
                  <a:pt x="4050" y="12960"/>
                </a:lnTo>
                <a:cubicBezTo>
                  <a:pt x="3303" y="12960"/>
                  <a:pt x="2700" y="12316"/>
                  <a:pt x="2700" y="11520"/>
                </a:cubicBezTo>
                <a:lnTo>
                  <a:pt x="2700" y="4320"/>
                </a:lnTo>
                <a:cubicBezTo>
                  <a:pt x="2700" y="3524"/>
                  <a:pt x="3303" y="2880"/>
                  <a:pt x="4050" y="2880"/>
                </a:cubicBezTo>
                <a:close/>
              </a:path>
            </a:pathLst>
          </a:custGeom>
          <a:solidFill>
            <a:srgbClr val="2F549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" name="Text 5"/>
          <p:cNvSpPr txBox="1"/>
          <p:nvPr/>
        </p:nvSpPr>
        <p:spPr>
          <a:xfrm>
            <a:off x="1981200" y="2134741"/>
            <a:ext cx="3626520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lnSpc>
                <a:spcPct val="130000"/>
              </a:lnSpc>
              <a:defRPr b="1" sz="2800">
                <a:solidFill>
                  <a:srgbClr val="2F5496"/>
                </a:solidFill>
              </a:defRPr>
            </a:lvl1pPr>
          </a:lstStyle>
          <a:p>
            <a:pPr/>
            <a:r>
              <a:t>Existing System Features</a:t>
            </a:r>
          </a:p>
        </p:txBody>
      </p:sp>
      <p:sp>
        <p:nvSpPr>
          <p:cNvPr id="52" name="Text 6"/>
          <p:cNvSpPr txBox="1"/>
          <p:nvPr/>
        </p:nvSpPr>
        <p:spPr>
          <a:xfrm>
            <a:off x="1447800" y="2667000"/>
            <a:ext cx="6540500" cy="2117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17500" indent="-317500">
              <a:lnSpc>
                <a:spcPct val="150000"/>
              </a:lnSpc>
              <a:buSzPct val="100000"/>
              <a:buChar char="•"/>
              <a:defRPr sz="2000">
                <a:solidFill>
                  <a:srgbClr val="1F2937"/>
                </a:solidFill>
              </a:defRPr>
            </a:pPr>
            <a:r>
              <a:t>Real-time dashboards</a:t>
            </a:r>
          </a:p>
          <a:p>
            <a:pPr marL="317500" indent="-317500">
              <a:lnSpc>
                <a:spcPct val="150000"/>
              </a:lnSpc>
              <a:buSzPct val="100000"/>
              <a:buChar char="•"/>
              <a:defRPr sz="2000">
                <a:solidFill>
                  <a:srgbClr val="1F2937"/>
                </a:solidFill>
              </a:defRPr>
            </a:pPr>
            <a:r>
              <a:t>Floor-wise energy tracking</a:t>
            </a:r>
          </a:p>
          <a:p>
            <a:pPr marL="317500" indent="-317500">
              <a:lnSpc>
                <a:spcPct val="150000"/>
              </a:lnSpc>
              <a:buSzPct val="100000"/>
              <a:buChar char="•"/>
              <a:defRPr sz="2000">
                <a:solidFill>
                  <a:srgbClr val="1F2937"/>
                </a:solidFill>
              </a:defRPr>
            </a:pPr>
            <a:r>
              <a:t>Device-level monitoring</a:t>
            </a:r>
          </a:p>
          <a:p>
            <a:pPr marL="317500" indent="-317500">
              <a:lnSpc>
                <a:spcPct val="150000"/>
              </a:lnSpc>
              <a:buSzPct val="100000"/>
              <a:buChar char="•"/>
              <a:defRPr sz="2000">
                <a:solidFill>
                  <a:srgbClr val="1F2937"/>
                </a:solidFill>
              </a:defRPr>
            </a:pPr>
            <a:r>
              <a:t>Automated alerts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b="1" sz="2000">
                <a:solidFill>
                  <a:srgbClr val="2F5496"/>
                </a:solidFill>
              </a:defRPr>
            </a:pPr>
            <a:r>
              <a:t>Initially generated interest among administrators</a:t>
            </a:r>
          </a:p>
        </p:txBody>
      </p:sp>
      <p:sp>
        <p:nvSpPr>
          <p:cNvPr id="53" name="Shape 7"/>
          <p:cNvSpPr/>
          <p:nvPr/>
        </p:nvSpPr>
        <p:spPr>
          <a:xfrm>
            <a:off x="8496300" y="1905000"/>
            <a:ext cx="7048500" cy="48260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4" name="Shape 8"/>
          <p:cNvSpPr/>
          <p:nvPr/>
        </p:nvSpPr>
        <p:spPr>
          <a:xfrm>
            <a:off x="8750300" y="2095500"/>
            <a:ext cx="406400" cy="406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cubicBezTo>
                  <a:pt x="16761" y="21600"/>
                  <a:pt x="21600" y="16761"/>
                  <a:pt x="21600" y="10800"/>
                </a:cubicBezTo>
                <a:cubicBezTo>
                  <a:pt x="21600" y="4839"/>
                  <a:pt x="16761" y="0"/>
                  <a:pt x="10800" y="0"/>
                </a:cubicBezTo>
                <a:cubicBezTo>
                  <a:pt x="4839" y="0"/>
                  <a:pt x="0" y="4839"/>
                  <a:pt x="0" y="10800"/>
                </a:cubicBezTo>
                <a:cubicBezTo>
                  <a:pt x="0" y="16761"/>
                  <a:pt x="4839" y="21600"/>
                  <a:pt x="10800" y="21600"/>
                </a:cubicBezTo>
                <a:close/>
                <a:moveTo>
                  <a:pt x="7045" y="7045"/>
                </a:moveTo>
                <a:cubicBezTo>
                  <a:pt x="7442" y="6649"/>
                  <a:pt x="8083" y="6649"/>
                  <a:pt x="8475" y="7045"/>
                </a:cubicBezTo>
                <a:lnTo>
                  <a:pt x="10796" y="9366"/>
                </a:lnTo>
                <a:lnTo>
                  <a:pt x="13116" y="7045"/>
                </a:lnTo>
                <a:cubicBezTo>
                  <a:pt x="13513" y="6649"/>
                  <a:pt x="14154" y="6649"/>
                  <a:pt x="14546" y="7045"/>
                </a:cubicBezTo>
                <a:cubicBezTo>
                  <a:pt x="14939" y="7442"/>
                  <a:pt x="14943" y="8083"/>
                  <a:pt x="14546" y="8475"/>
                </a:cubicBezTo>
                <a:lnTo>
                  <a:pt x="12226" y="10796"/>
                </a:lnTo>
                <a:lnTo>
                  <a:pt x="14546" y="13116"/>
                </a:lnTo>
                <a:cubicBezTo>
                  <a:pt x="14943" y="13513"/>
                  <a:pt x="14943" y="14154"/>
                  <a:pt x="14546" y="14546"/>
                </a:cubicBezTo>
                <a:cubicBezTo>
                  <a:pt x="14150" y="14939"/>
                  <a:pt x="13508" y="14943"/>
                  <a:pt x="13116" y="14546"/>
                </a:cubicBezTo>
                <a:lnTo>
                  <a:pt x="10796" y="12226"/>
                </a:lnTo>
                <a:lnTo>
                  <a:pt x="8475" y="14546"/>
                </a:lnTo>
                <a:cubicBezTo>
                  <a:pt x="8079" y="14943"/>
                  <a:pt x="7438" y="14943"/>
                  <a:pt x="7045" y="14546"/>
                </a:cubicBezTo>
                <a:cubicBezTo>
                  <a:pt x="6653" y="14150"/>
                  <a:pt x="6649" y="13508"/>
                  <a:pt x="7045" y="13116"/>
                </a:cubicBezTo>
                <a:lnTo>
                  <a:pt x="9366" y="10796"/>
                </a:lnTo>
                <a:lnTo>
                  <a:pt x="7045" y="8475"/>
                </a:lnTo>
                <a:cubicBezTo>
                  <a:pt x="6649" y="8079"/>
                  <a:pt x="6649" y="7438"/>
                  <a:pt x="7045" y="7045"/>
                </a:cubicBezTo>
                <a:close/>
              </a:path>
            </a:pathLst>
          </a:custGeom>
          <a:solidFill>
            <a:srgbClr val="E74C3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5" name="Text 9"/>
          <p:cNvSpPr txBox="1"/>
          <p:nvPr/>
        </p:nvSpPr>
        <p:spPr>
          <a:xfrm>
            <a:off x="9283700" y="2134741"/>
            <a:ext cx="2415779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lnSpc>
                <a:spcPct val="130000"/>
              </a:lnSpc>
              <a:defRPr b="1" sz="2800">
                <a:solidFill>
                  <a:srgbClr val="2F5496"/>
                </a:solidFill>
              </a:defRPr>
            </a:lvl1pPr>
          </a:lstStyle>
          <a:p>
            <a:pPr/>
            <a:r>
              <a:t>Issues Identified</a:t>
            </a:r>
          </a:p>
        </p:txBody>
      </p:sp>
      <p:sp>
        <p:nvSpPr>
          <p:cNvPr id="56" name="Text 10"/>
          <p:cNvSpPr txBox="1"/>
          <p:nvPr/>
        </p:nvSpPr>
        <p:spPr>
          <a:xfrm>
            <a:off x="8750300" y="2667000"/>
            <a:ext cx="6540500" cy="1965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17500" indent="-317500">
              <a:lnSpc>
                <a:spcPct val="150000"/>
              </a:lnSpc>
              <a:buSzPct val="100000"/>
              <a:buChar char="•"/>
              <a:defRPr sz="2000">
                <a:solidFill>
                  <a:srgbClr val="1F2937"/>
                </a:solidFill>
              </a:defRPr>
            </a:pPr>
            <a:r>
              <a:t>Alerts became repetitive and easy to ignore</a:t>
            </a:r>
          </a:p>
          <a:p>
            <a:pPr marL="317500" indent="-317500">
              <a:lnSpc>
                <a:spcPct val="150000"/>
              </a:lnSpc>
              <a:buSzPct val="100000"/>
              <a:buChar char="•"/>
              <a:defRPr sz="2000">
                <a:solidFill>
                  <a:srgbClr val="1F2937"/>
                </a:solidFill>
              </a:defRPr>
            </a:pPr>
            <a:r>
              <a:t>Data was difficult for non-technical users</a:t>
            </a:r>
          </a:p>
          <a:p>
            <a:pPr marL="317500" indent="-317500">
              <a:lnSpc>
                <a:spcPct val="150000"/>
              </a:lnSpc>
              <a:buSzPct val="100000"/>
              <a:buChar char="•"/>
              <a:defRPr sz="2000">
                <a:solidFill>
                  <a:srgbClr val="1F2937"/>
                </a:solidFill>
              </a:defRPr>
            </a:pPr>
            <a:r>
              <a:t>No incentives for saving energy</a:t>
            </a:r>
          </a:p>
          <a:p>
            <a:pPr marL="317500" indent="-317500">
              <a:lnSpc>
                <a:spcPct val="150000"/>
              </a:lnSpc>
              <a:buSzPct val="100000"/>
              <a:buChar char="•"/>
              <a:defRPr sz="2000">
                <a:solidFill>
                  <a:srgbClr val="1F2937"/>
                </a:solidFill>
              </a:defRPr>
            </a:pPr>
            <a:r>
              <a:t>System focused on monitoring, not optimization</a:t>
            </a:r>
          </a:p>
          <a:p>
            <a:pPr marL="317500" indent="-317500">
              <a:lnSpc>
                <a:spcPct val="150000"/>
              </a:lnSpc>
              <a:buSzPct val="100000"/>
              <a:buChar char="•"/>
              <a:defRPr sz="2000">
                <a:solidFill>
                  <a:srgbClr val="1F2937"/>
                </a:solidFill>
              </a:defRPr>
            </a:pPr>
            <a:r>
              <a:t>Manual overrides bypassed automation</a:t>
            </a:r>
          </a:p>
        </p:txBody>
      </p:sp>
      <p:sp>
        <p:nvSpPr>
          <p:cNvPr id="57" name="Shape 11"/>
          <p:cNvSpPr/>
          <p:nvPr/>
        </p:nvSpPr>
        <p:spPr>
          <a:xfrm>
            <a:off x="1193800" y="7048500"/>
            <a:ext cx="14351000" cy="698500"/>
          </a:xfrm>
          <a:prstGeom prst="roundRect">
            <a:avLst>
              <a:gd name="adj" fmla="val 8000"/>
            </a:avLst>
          </a:prstGeom>
          <a:solidFill>
            <a:srgbClr val="2F549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8" name="Text 12"/>
          <p:cNvSpPr txBox="1"/>
          <p:nvPr/>
        </p:nvSpPr>
        <p:spPr>
          <a:xfrm>
            <a:off x="1447800" y="7273379"/>
            <a:ext cx="13843000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2000">
                <a:solidFill>
                  <a:srgbClr val="FFFFFF"/>
                </a:solidFill>
              </a:defRPr>
            </a:lvl1pPr>
          </a:lstStyle>
          <a:p>
            <a:pPr/>
            <a:r>
              <a:t>"The system showed energy data but failed to encourage behavioral change."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0"/>
          <p:cNvSpPr/>
          <p:nvPr/>
        </p:nvSpPr>
        <p:spPr>
          <a:xfrm>
            <a:off x="0" y="0"/>
            <a:ext cx="898398" cy="914400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" name="Text 1"/>
          <p:cNvSpPr txBox="1"/>
          <p:nvPr/>
        </p:nvSpPr>
        <p:spPr>
          <a:xfrm>
            <a:off x="1116584" y="398506"/>
            <a:ext cx="5579170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2400">
                <a:solidFill>
                  <a:srgbClr val="1F2937"/>
                </a:solidFill>
              </a:defRPr>
            </a:pPr>
            <a:r>
              <a:t>Theme:</a:t>
            </a:r>
            <a:r>
              <a:rPr b="0"/>
              <a:t> Energy Conservation and Digitization</a:t>
            </a:r>
          </a:p>
        </p:txBody>
      </p:sp>
      <p:sp>
        <p:nvSpPr>
          <p:cNvPr id="62" name="Text 2"/>
          <p:cNvSpPr txBox="1"/>
          <p:nvPr/>
        </p:nvSpPr>
        <p:spPr>
          <a:xfrm>
            <a:off x="6830807" y="1046658"/>
            <a:ext cx="3488085" cy="510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lnSpc>
                <a:spcPct val="120000"/>
              </a:lnSpc>
              <a:defRPr b="1" sz="4000">
                <a:solidFill>
                  <a:srgbClr val="1F2937"/>
                </a:solidFill>
              </a:defRPr>
            </a:lvl1pPr>
          </a:lstStyle>
          <a:p>
            <a:pPr/>
            <a:r>
              <a:t>Present Solution</a:t>
            </a:r>
          </a:p>
        </p:txBody>
      </p:sp>
      <p:sp>
        <p:nvSpPr>
          <p:cNvPr id="63" name="Shape 3"/>
          <p:cNvSpPr/>
          <p:nvPr/>
        </p:nvSpPr>
        <p:spPr>
          <a:xfrm>
            <a:off x="1193800" y="1879600"/>
            <a:ext cx="7048500" cy="22225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Shape 4"/>
          <p:cNvSpPr/>
          <p:nvPr/>
        </p:nvSpPr>
        <p:spPr>
          <a:xfrm>
            <a:off x="1471612" y="2032000"/>
            <a:ext cx="333302" cy="381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2" y="0"/>
                </a:moveTo>
                <a:cubicBezTo>
                  <a:pt x="9949" y="0"/>
                  <a:pt x="9259" y="603"/>
                  <a:pt x="9259" y="1350"/>
                </a:cubicBezTo>
                <a:lnTo>
                  <a:pt x="9259" y="1485"/>
                </a:lnTo>
                <a:cubicBezTo>
                  <a:pt x="5739" y="2109"/>
                  <a:pt x="3086" y="4835"/>
                  <a:pt x="3086" y="8100"/>
                </a:cubicBezTo>
                <a:lnTo>
                  <a:pt x="3086" y="9015"/>
                </a:lnTo>
                <a:cubicBezTo>
                  <a:pt x="3086" y="11045"/>
                  <a:pt x="2296" y="13015"/>
                  <a:pt x="849" y="14601"/>
                </a:cubicBezTo>
                <a:lnTo>
                  <a:pt x="376" y="15116"/>
                </a:lnTo>
                <a:cubicBezTo>
                  <a:pt x="130" y="15382"/>
                  <a:pt x="0" y="15711"/>
                  <a:pt x="0" y="16052"/>
                </a:cubicBezTo>
                <a:cubicBezTo>
                  <a:pt x="0" y="16879"/>
                  <a:pt x="767" y="17550"/>
                  <a:pt x="1712" y="17550"/>
                </a:cubicBezTo>
                <a:lnTo>
                  <a:pt x="19888" y="17550"/>
                </a:lnTo>
                <a:cubicBezTo>
                  <a:pt x="20833" y="17550"/>
                  <a:pt x="21600" y="16879"/>
                  <a:pt x="21600" y="16052"/>
                </a:cubicBezTo>
                <a:cubicBezTo>
                  <a:pt x="21600" y="15711"/>
                  <a:pt x="21470" y="15382"/>
                  <a:pt x="21224" y="15116"/>
                </a:cubicBezTo>
                <a:lnTo>
                  <a:pt x="20751" y="14601"/>
                </a:lnTo>
                <a:cubicBezTo>
                  <a:pt x="19309" y="13015"/>
                  <a:pt x="18518" y="11045"/>
                  <a:pt x="18518" y="9015"/>
                </a:cubicBezTo>
                <a:lnTo>
                  <a:pt x="18518" y="8100"/>
                </a:lnTo>
                <a:cubicBezTo>
                  <a:pt x="18518" y="4835"/>
                  <a:pt x="15866" y="2109"/>
                  <a:pt x="12346" y="1485"/>
                </a:cubicBezTo>
                <a:lnTo>
                  <a:pt x="12346" y="1350"/>
                </a:lnTo>
                <a:cubicBezTo>
                  <a:pt x="12346" y="603"/>
                  <a:pt x="11656" y="0"/>
                  <a:pt x="10802" y="0"/>
                </a:cubicBezTo>
                <a:close/>
                <a:moveTo>
                  <a:pt x="7812" y="19575"/>
                </a:moveTo>
                <a:cubicBezTo>
                  <a:pt x="8155" y="20739"/>
                  <a:pt x="9365" y="21600"/>
                  <a:pt x="10802" y="21600"/>
                </a:cubicBezTo>
                <a:cubicBezTo>
                  <a:pt x="12240" y="21600"/>
                  <a:pt x="13450" y="20739"/>
                  <a:pt x="13792" y="19575"/>
                </a:cubicBezTo>
                <a:lnTo>
                  <a:pt x="7812" y="19575"/>
                </a:lnTo>
                <a:close/>
              </a:path>
            </a:pathLst>
          </a:custGeom>
          <a:solidFill>
            <a:srgbClr val="F39C1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5" name="Text 5"/>
          <p:cNvSpPr txBox="1"/>
          <p:nvPr/>
        </p:nvSpPr>
        <p:spPr>
          <a:xfrm>
            <a:off x="1930400" y="2052191"/>
            <a:ext cx="2841874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lnSpc>
                <a:spcPct val="130000"/>
              </a:lnSpc>
              <a:defRPr b="1" sz="2800">
                <a:solidFill>
                  <a:srgbClr val="2F5496"/>
                </a:solidFill>
              </a:defRPr>
            </a:lvl1pPr>
          </a:lstStyle>
          <a:p>
            <a:pPr/>
            <a:r>
              <a:t>Smart Alert System</a:t>
            </a:r>
          </a:p>
        </p:txBody>
      </p:sp>
      <p:sp>
        <p:nvSpPr>
          <p:cNvPr id="66" name="Shape 6"/>
          <p:cNvSpPr/>
          <p:nvPr/>
        </p:nvSpPr>
        <p:spPr>
          <a:xfrm>
            <a:off x="1447800" y="2540000"/>
            <a:ext cx="1968500" cy="444500"/>
          </a:xfrm>
          <a:prstGeom prst="roundRect">
            <a:avLst>
              <a:gd name="adj" fmla="val 12000"/>
            </a:avLst>
          </a:prstGeom>
          <a:solidFill>
            <a:srgbClr val="27AE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7" name="Text 7"/>
          <p:cNvSpPr txBox="1"/>
          <p:nvPr/>
        </p:nvSpPr>
        <p:spPr>
          <a:xfrm>
            <a:off x="1766490" y="2657673"/>
            <a:ext cx="1331120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50% Awareness</a:t>
            </a:r>
          </a:p>
        </p:txBody>
      </p:sp>
      <p:sp>
        <p:nvSpPr>
          <p:cNvPr id="68" name="Shape 8"/>
          <p:cNvSpPr/>
          <p:nvPr/>
        </p:nvSpPr>
        <p:spPr>
          <a:xfrm>
            <a:off x="3543300" y="2540000"/>
            <a:ext cx="1968500" cy="444500"/>
          </a:xfrm>
          <a:prstGeom prst="roundRect">
            <a:avLst>
              <a:gd name="adj" fmla="val 12000"/>
            </a:avLst>
          </a:prstGeom>
          <a:solidFill>
            <a:srgbClr val="F39C1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9" name="Text 9"/>
          <p:cNvSpPr txBox="1"/>
          <p:nvPr/>
        </p:nvSpPr>
        <p:spPr>
          <a:xfrm>
            <a:off x="3964334" y="2657673"/>
            <a:ext cx="1126432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75% Warning</a:t>
            </a:r>
          </a:p>
        </p:txBody>
      </p:sp>
      <p:sp>
        <p:nvSpPr>
          <p:cNvPr id="70" name="Shape 10"/>
          <p:cNvSpPr/>
          <p:nvPr/>
        </p:nvSpPr>
        <p:spPr>
          <a:xfrm>
            <a:off x="5638800" y="2540000"/>
            <a:ext cx="1968500" cy="444500"/>
          </a:xfrm>
          <a:prstGeom prst="roundRect">
            <a:avLst>
              <a:gd name="adj" fmla="val 12000"/>
            </a:avLst>
          </a:prstGeom>
          <a:solidFill>
            <a:srgbClr val="E74C3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Text 11"/>
          <p:cNvSpPr txBox="1"/>
          <p:nvPr/>
        </p:nvSpPr>
        <p:spPr>
          <a:xfrm>
            <a:off x="6073130" y="2657673"/>
            <a:ext cx="1099840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100% Critical</a:t>
            </a:r>
          </a:p>
        </p:txBody>
      </p:sp>
      <p:sp>
        <p:nvSpPr>
          <p:cNvPr id="72" name="Text 12"/>
          <p:cNvSpPr txBox="1"/>
          <p:nvPr/>
        </p:nvSpPr>
        <p:spPr>
          <a:xfrm>
            <a:off x="1447800" y="3111500"/>
            <a:ext cx="6540500" cy="630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40000"/>
              </a:lnSpc>
              <a:defRPr>
                <a:solidFill>
                  <a:srgbClr val="1F2937"/>
                </a:solidFill>
              </a:defRPr>
            </a:lvl1pPr>
          </a:lstStyle>
          <a:p>
            <a:pPr/>
            <a:r>
              <a:t>Department-based energy limits with smart meters and plugs tracking usage continuously</a:t>
            </a:r>
          </a:p>
        </p:txBody>
      </p:sp>
      <p:sp>
        <p:nvSpPr>
          <p:cNvPr id="73" name="Shape 13"/>
          <p:cNvSpPr/>
          <p:nvPr/>
        </p:nvSpPr>
        <p:spPr>
          <a:xfrm>
            <a:off x="8496300" y="1879600"/>
            <a:ext cx="7048500" cy="22225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Shape 14"/>
          <p:cNvSpPr/>
          <p:nvPr/>
        </p:nvSpPr>
        <p:spPr>
          <a:xfrm>
            <a:off x="8774101" y="2008188"/>
            <a:ext cx="333399" cy="4286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39" h="21600" fill="norm" stroke="1" extrusionOk="0">
                <a:moveTo>
                  <a:pt x="10719" y="0"/>
                </a:moveTo>
                <a:cubicBezTo>
                  <a:pt x="11054" y="0"/>
                  <a:pt x="11375" y="116"/>
                  <a:pt x="11595" y="319"/>
                </a:cubicBezTo>
                <a:lnTo>
                  <a:pt x="18102" y="6319"/>
                </a:lnTo>
                <a:cubicBezTo>
                  <a:pt x="18394" y="6585"/>
                  <a:pt x="18457" y="6960"/>
                  <a:pt x="18270" y="7279"/>
                </a:cubicBezTo>
                <a:cubicBezTo>
                  <a:pt x="18083" y="7597"/>
                  <a:pt x="17677" y="7800"/>
                  <a:pt x="17227" y="7800"/>
                </a:cubicBezTo>
                <a:lnTo>
                  <a:pt x="16035" y="7800"/>
                </a:lnTo>
                <a:lnTo>
                  <a:pt x="19634" y="11119"/>
                </a:lnTo>
                <a:cubicBezTo>
                  <a:pt x="19926" y="11385"/>
                  <a:pt x="19988" y="11760"/>
                  <a:pt x="19801" y="12079"/>
                </a:cubicBezTo>
                <a:cubicBezTo>
                  <a:pt x="19615" y="12397"/>
                  <a:pt x="19208" y="12600"/>
                  <a:pt x="18758" y="12600"/>
                </a:cubicBezTo>
                <a:lnTo>
                  <a:pt x="16916" y="12600"/>
                </a:lnTo>
                <a:lnTo>
                  <a:pt x="21165" y="16519"/>
                </a:lnTo>
                <a:cubicBezTo>
                  <a:pt x="21457" y="16785"/>
                  <a:pt x="21519" y="17160"/>
                  <a:pt x="21332" y="17479"/>
                </a:cubicBezTo>
                <a:cubicBezTo>
                  <a:pt x="21146" y="17797"/>
                  <a:pt x="20739" y="18000"/>
                  <a:pt x="20289" y="18000"/>
                </a:cubicBezTo>
                <a:lnTo>
                  <a:pt x="12250" y="18000"/>
                </a:lnTo>
                <a:lnTo>
                  <a:pt x="12250" y="20400"/>
                </a:lnTo>
                <a:cubicBezTo>
                  <a:pt x="12250" y="21064"/>
                  <a:pt x="11566" y="21600"/>
                  <a:pt x="10719" y="21600"/>
                </a:cubicBezTo>
                <a:cubicBezTo>
                  <a:pt x="9872" y="21600"/>
                  <a:pt x="9188" y="21064"/>
                  <a:pt x="9188" y="20400"/>
                </a:cubicBezTo>
                <a:lnTo>
                  <a:pt x="9188" y="18000"/>
                </a:lnTo>
                <a:lnTo>
                  <a:pt x="1149" y="18000"/>
                </a:lnTo>
                <a:cubicBezTo>
                  <a:pt x="699" y="18000"/>
                  <a:pt x="292" y="17797"/>
                  <a:pt x="106" y="17479"/>
                </a:cubicBezTo>
                <a:cubicBezTo>
                  <a:pt x="-81" y="17160"/>
                  <a:pt x="-19" y="16785"/>
                  <a:pt x="273" y="16519"/>
                </a:cubicBezTo>
                <a:lnTo>
                  <a:pt x="4522" y="12600"/>
                </a:lnTo>
                <a:lnTo>
                  <a:pt x="2680" y="12600"/>
                </a:lnTo>
                <a:cubicBezTo>
                  <a:pt x="2230" y="12600"/>
                  <a:pt x="1823" y="12397"/>
                  <a:pt x="1637" y="12079"/>
                </a:cubicBezTo>
                <a:cubicBezTo>
                  <a:pt x="1450" y="11760"/>
                  <a:pt x="1512" y="11385"/>
                  <a:pt x="1804" y="11119"/>
                </a:cubicBezTo>
                <a:lnTo>
                  <a:pt x="5403" y="7800"/>
                </a:lnTo>
                <a:lnTo>
                  <a:pt x="4211" y="7800"/>
                </a:lnTo>
                <a:cubicBezTo>
                  <a:pt x="3761" y="7800"/>
                  <a:pt x="3355" y="7597"/>
                  <a:pt x="3168" y="7279"/>
                </a:cubicBezTo>
                <a:cubicBezTo>
                  <a:pt x="2981" y="6960"/>
                  <a:pt x="3044" y="6585"/>
                  <a:pt x="3336" y="6319"/>
                </a:cubicBezTo>
                <a:lnTo>
                  <a:pt x="9843" y="319"/>
                </a:lnTo>
                <a:cubicBezTo>
                  <a:pt x="10063" y="116"/>
                  <a:pt x="10384" y="0"/>
                  <a:pt x="10719" y="0"/>
                </a:cubicBezTo>
                <a:close/>
              </a:path>
            </a:pathLst>
          </a:custGeom>
          <a:solidFill>
            <a:srgbClr val="27AE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5" name="Text 15"/>
          <p:cNvSpPr txBox="1"/>
          <p:nvPr/>
        </p:nvSpPr>
        <p:spPr>
          <a:xfrm>
            <a:off x="9232900" y="2052191"/>
            <a:ext cx="2443907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lnSpc>
                <a:spcPct val="130000"/>
              </a:lnSpc>
              <a:defRPr b="1" sz="2800">
                <a:solidFill>
                  <a:srgbClr val="2F5496"/>
                </a:solidFill>
              </a:defRPr>
            </a:lvl1pPr>
          </a:lstStyle>
          <a:p>
            <a:pPr/>
            <a:r>
              <a:t>Visual Indicators</a:t>
            </a:r>
          </a:p>
        </p:txBody>
      </p:sp>
      <p:sp>
        <p:nvSpPr>
          <p:cNvPr id="76" name="Shape 16"/>
          <p:cNvSpPr/>
          <p:nvPr/>
        </p:nvSpPr>
        <p:spPr>
          <a:xfrm>
            <a:off x="8769340" y="2520950"/>
            <a:ext cx="266719" cy="3429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39" h="21600" fill="norm" stroke="1" extrusionOk="0">
                <a:moveTo>
                  <a:pt x="10719" y="0"/>
                </a:moveTo>
                <a:cubicBezTo>
                  <a:pt x="11054" y="0"/>
                  <a:pt x="11375" y="116"/>
                  <a:pt x="11595" y="319"/>
                </a:cubicBezTo>
                <a:lnTo>
                  <a:pt x="18102" y="6319"/>
                </a:lnTo>
                <a:cubicBezTo>
                  <a:pt x="18394" y="6585"/>
                  <a:pt x="18457" y="6960"/>
                  <a:pt x="18270" y="7279"/>
                </a:cubicBezTo>
                <a:cubicBezTo>
                  <a:pt x="18083" y="7597"/>
                  <a:pt x="17677" y="7800"/>
                  <a:pt x="17227" y="7800"/>
                </a:cubicBezTo>
                <a:lnTo>
                  <a:pt x="16035" y="7800"/>
                </a:lnTo>
                <a:lnTo>
                  <a:pt x="19634" y="11119"/>
                </a:lnTo>
                <a:cubicBezTo>
                  <a:pt x="19926" y="11385"/>
                  <a:pt x="19988" y="11760"/>
                  <a:pt x="19801" y="12079"/>
                </a:cubicBezTo>
                <a:cubicBezTo>
                  <a:pt x="19615" y="12397"/>
                  <a:pt x="19208" y="12600"/>
                  <a:pt x="18758" y="12600"/>
                </a:cubicBezTo>
                <a:lnTo>
                  <a:pt x="16916" y="12600"/>
                </a:lnTo>
                <a:lnTo>
                  <a:pt x="21165" y="16519"/>
                </a:lnTo>
                <a:cubicBezTo>
                  <a:pt x="21457" y="16785"/>
                  <a:pt x="21519" y="17160"/>
                  <a:pt x="21332" y="17479"/>
                </a:cubicBezTo>
                <a:cubicBezTo>
                  <a:pt x="21146" y="17797"/>
                  <a:pt x="20739" y="18000"/>
                  <a:pt x="20289" y="18000"/>
                </a:cubicBezTo>
                <a:lnTo>
                  <a:pt x="12250" y="18000"/>
                </a:lnTo>
                <a:lnTo>
                  <a:pt x="12250" y="20400"/>
                </a:lnTo>
                <a:cubicBezTo>
                  <a:pt x="12250" y="21064"/>
                  <a:pt x="11566" y="21600"/>
                  <a:pt x="10719" y="21600"/>
                </a:cubicBezTo>
                <a:cubicBezTo>
                  <a:pt x="9872" y="21600"/>
                  <a:pt x="9188" y="21064"/>
                  <a:pt x="9188" y="20400"/>
                </a:cubicBezTo>
                <a:lnTo>
                  <a:pt x="9188" y="18000"/>
                </a:lnTo>
                <a:lnTo>
                  <a:pt x="1149" y="18000"/>
                </a:lnTo>
                <a:cubicBezTo>
                  <a:pt x="699" y="18000"/>
                  <a:pt x="292" y="17797"/>
                  <a:pt x="106" y="17479"/>
                </a:cubicBezTo>
                <a:cubicBezTo>
                  <a:pt x="-81" y="17160"/>
                  <a:pt x="-19" y="16785"/>
                  <a:pt x="273" y="16519"/>
                </a:cubicBezTo>
                <a:lnTo>
                  <a:pt x="4522" y="12600"/>
                </a:lnTo>
                <a:lnTo>
                  <a:pt x="2680" y="12600"/>
                </a:lnTo>
                <a:cubicBezTo>
                  <a:pt x="2230" y="12600"/>
                  <a:pt x="1823" y="12397"/>
                  <a:pt x="1637" y="12079"/>
                </a:cubicBezTo>
                <a:cubicBezTo>
                  <a:pt x="1450" y="11760"/>
                  <a:pt x="1512" y="11385"/>
                  <a:pt x="1804" y="11119"/>
                </a:cubicBezTo>
                <a:lnTo>
                  <a:pt x="5403" y="7800"/>
                </a:lnTo>
                <a:lnTo>
                  <a:pt x="4211" y="7800"/>
                </a:lnTo>
                <a:cubicBezTo>
                  <a:pt x="3761" y="7800"/>
                  <a:pt x="3355" y="7597"/>
                  <a:pt x="3168" y="7279"/>
                </a:cubicBezTo>
                <a:cubicBezTo>
                  <a:pt x="2981" y="6960"/>
                  <a:pt x="3044" y="6585"/>
                  <a:pt x="3336" y="6319"/>
                </a:cubicBezTo>
                <a:lnTo>
                  <a:pt x="9843" y="319"/>
                </a:lnTo>
                <a:cubicBezTo>
                  <a:pt x="10063" y="116"/>
                  <a:pt x="10384" y="0"/>
                  <a:pt x="10719" y="0"/>
                </a:cubicBezTo>
                <a:close/>
              </a:path>
            </a:pathLst>
          </a:custGeom>
          <a:solidFill>
            <a:srgbClr val="27AE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Text 17"/>
          <p:cNvSpPr txBox="1"/>
          <p:nvPr/>
        </p:nvSpPr>
        <p:spPr>
          <a:xfrm>
            <a:off x="9144000" y="2571576"/>
            <a:ext cx="2637471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>
                <a:solidFill>
                  <a:srgbClr val="27AE60"/>
                </a:solidFill>
              </a:defRPr>
            </a:pPr>
            <a:r>
              <a:t>Green Tree</a:t>
            </a:r>
            <a:r>
              <a:rPr b="0">
                <a:solidFill>
                  <a:srgbClr val="1F2937"/>
                </a:solidFill>
              </a:rPr>
              <a:t> = Efficient Usage</a:t>
            </a:r>
          </a:p>
        </p:txBody>
      </p:sp>
      <p:sp>
        <p:nvSpPr>
          <p:cNvPr id="78" name="Shape 18"/>
          <p:cNvSpPr/>
          <p:nvPr/>
        </p:nvSpPr>
        <p:spPr>
          <a:xfrm>
            <a:off x="8769340" y="2927350"/>
            <a:ext cx="266719" cy="3429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39" h="21600" fill="norm" stroke="1" extrusionOk="0">
                <a:moveTo>
                  <a:pt x="10719" y="0"/>
                </a:moveTo>
                <a:cubicBezTo>
                  <a:pt x="11054" y="0"/>
                  <a:pt x="11375" y="116"/>
                  <a:pt x="11595" y="319"/>
                </a:cubicBezTo>
                <a:lnTo>
                  <a:pt x="18102" y="6319"/>
                </a:lnTo>
                <a:cubicBezTo>
                  <a:pt x="18394" y="6585"/>
                  <a:pt x="18457" y="6960"/>
                  <a:pt x="18270" y="7279"/>
                </a:cubicBezTo>
                <a:cubicBezTo>
                  <a:pt x="18083" y="7597"/>
                  <a:pt x="17677" y="7800"/>
                  <a:pt x="17227" y="7800"/>
                </a:cubicBezTo>
                <a:lnTo>
                  <a:pt x="16035" y="7800"/>
                </a:lnTo>
                <a:lnTo>
                  <a:pt x="19634" y="11119"/>
                </a:lnTo>
                <a:cubicBezTo>
                  <a:pt x="19926" y="11385"/>
                  <a:pt x="19988" y="11760"/>
                  <a:pt x="19801" y="12079"/>
                </a:cubicBezTo>
                <a:cubicBezTo>
                  <a:pt x="19615" y="12397"/>
                  <a:pt x="19208" y="12600"/>
                  <a:pt x="18758" y="12600"/>
                </a:cubicBezTo>
                <a:lnTo>
                  <a:pt x="16916" y="12600"/>
                </a:lnTo>
                <a:lnTo>
                  <a:pt x="21165" y="16519"/>
                </a:lnTo>
                <a:cubicBezTo>
                  <a:pt x="21457" y="16785"/>
                  <a:pt x="21519" y="17160"/>
                  <a:pt x="21332" y="17479"/>
                </a:cubicBezTo>
                <a:cubicBezTo>
                  <a:pt x="21146" y="17797"/>
                  <a:pt x="20739" y="18000"/>
                  <a:pt x="20289" y="18000"/>
                </a:cubicBezTo>
                <a:lnTo>
                  <a:pt x="12250" y="18000"/>
                </a:lnTo>
                <a:lnTo>
                  <a:pt x="12250" y="20400"/>
                </a:lnTo>
                <a:cubicBezTo>
                  <a:pt x="12250" y="21064"/>
                  <a:pt x="11566" y="21600"/>
                  <a:pt x="10719" y="21600"/>
                </a:cubicBezTo>
                <a:cubicBezTo>
                  <a:pt x="9872" y="21600"/>
                  <a:pt x="9188" y="21064"/>
                  <a:pt x="9188" y="20400"/>
                </a:cubicBezTo>
                <a:lnTo>
                  <a:pt x="9188" y="18000"/>
                </a:lnTo>
                <a:lnTo>
                  <a:pt x="1149" y="18000"/>
                </a:lnTo>
                <a:cubicBezTo>
                  <a:pt x="699" y="18000"/>
                  <a:pt x="292" y="17797"/>
                  <a:pt x="106" y="17479"/>
                </a:cubicBezTo>
                <a:cubicBezTo>
                  <a:pt x="-81" y="17160"/>
                  <a:pt x="-19" y="16785"/>
                  <a:pt x="273" y="16519"/>
                </a:cubicBezTo>
                <a:lnTo>
                  <a:pt x="4522" y="12600"/>
                </a:lnTo>
                <a:lnTo>
                  <a:pt x="2680" y="12600"/>
                </a:lnTo>
                <a:cubicBezTo>
                  <a:pt x="2230" y="12600"/>
                  <a:pt x="1823" y="12397"/>
                  <a:pt x="1637" y="12079"/>
                </a:cubicBezTo>
                <a:cubicBezTo>
                  <a:pt x="1450" y="11760"/>
                  <a:pt x="1512" y="11385"/>
                  <a:pt x="1804" y="11119"/>
                </a:cubicBezTo>
                <a:lnTo>
                  <a:pt x="5403" y="7800"/>
                </a:lnTo>
                <a:lnTo>
                  <a:pt x="4211" y="7800"/>
                </a:lnTo>
                <a:cubicBezTo>
                  <a:pt x="3761" y="7800"/>
                  <a:pt x="3355" y="7597"/>
                  <a:pt x="3168" y="7279"/>
                </a:cubicBezTo>
                <a:cubicBezTo>
                  <a:pt x="2981" y="6960"/>
                  <a:pt x="3044" y="6585"/>
                  <a:pt x="3336" y="6319"/>
                </a:cubicBezTo>
                <a:lnTo>
                  <a:pt x="9843" y="319"/>
                </a:lnTo>
                <a:cubicBezTo>
                  <a:pt x="10063" y="116"/>
                  <a:pt x="10384" y="0"/>
                  <a:pt x="10719" y="0"/>
                </a:cubicBezTo>
                <a:close/>
              </a:path>
            </a:pathLst>
          </a:custGeom>
          <a:solidFill>
            <a:srgbClr val="F39C1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9" name="Text 19"/>
          <p:cNvSpPr txBox="1"/>
          <p:nvPr/>
        </p:nvSpPr>
        <p:spPr>
          <a:xfrm>
            <a:off x="9144000" y="2977976"/>
            <a:ext cx="2849327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>
                <a:solidFill>
                  <a:srgbClr val="F39C12"/>
                </a:solidFill>
              </a:defRPr>
            </a:pPr>
            <a:r>
              <a:t>Yellow Tree</a:t>
            </a:r>
            <a:r>
              <a:rPr b="0">
                <a:solidFill>
                  <a:srgbClr val="1F2937"/>
                </a:solidFill>
              </a:rPr>
              <a:t> = Moderate Usage</a:t>
            </a:r>
          </a:p>
        </p:txBody>
      </p:sp>
      <p:sp>
        <p:nvSpPr>
          <p:cNvPr id="80" name="Shape 20"/>
          <p:cNvSpPr/>
          <p:nvPr/>
        </p:nvSpPr>
        <p:spPr>
          <a:xfrm>
            <a:off x="8769340" y="3333750"/>
            <a:ext cx="266719" cy="3429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39" h="21600" fill="norm" stroke="1" extrusionOk="0">
                <a:moveTo>
                  <a:pt x="10719" y="0"/>
                </a:moveTo>
                <a:cubicBezTo>
                  <a:pt x="11054" y="0"/>
                  <a:pt x="11375" y="116"/>
                  <a:pt x="11595" y="319"/>
                </a:cubicBezTo>
                <a:lnTo>
                  <a:pt x="18102" y="6319"/>
                </a:lnTo>
                <a:cubicBezTo>
                  <a:pt x="18394" y="6585"/>
                  <a:pt x="18457" y="6960"/>
                  <a:pt x="18270" y="7279"/>
                </a:cubicBezTo>
                <a:cubicBezTo>
                  <a:pt x="18083" y="7597"/>
                  <a:pt x="17677" y="7800"/>
                  <a:pt x="17227" y="7800"/>
                </a:cubicBezTo>
                <a:lnTo>
                  <a:pt x="16035" y="7800"/>
                </a:lnTo>
                <a:lnTo>
                  <a:pt x="19634" y="11119"/>
                </a:lnTo>
                <a:cubicBezTo>
                  <a:pt x="19926" y="11385"/>
                  <a:pt x="19988" y="11760"/>
                  <a:pt x="19801" y="12079"/>
                </a:cubicBezTo>
                <a:cubicBezTo>
                  <a:pt x="19615" y="12397"/>
                  <a:pt x="19208" y="12600"/>
                  <a:pt x="18758" y="12600"/>
                </a:cubicBezTo>
                <a:lnTo>
                  <a:pt x="16916" y="12600"/>
                </a:lnTo>
                <a:lnTo>
                  <a:pt x="21165" y="16519"/>
                </a:lnTo>
                <a:cubicBezTo>
                  <a:pt x="21457" y="16785"/>
                  <a:pt x="21519" y="17160"/>
                  <a:pt x="21332" y="17479"/>
                </a:cubicBezTo>
                <a:cubicBezTo>
                  <a:pt x="21146" y="17797"/>
                  <a:pt x="20739" y="18000"/>
                  <a:pt x="20289" y="18000"/>
                </a:cubicBezTo>
                <a:lnTo>
                  <a:pt x="12250" y="18000"/>
                </a:lnTo>
                <a:lnTo>
                  <a:pt x="12250" y="20400"/>
                </a:lnTo>
                <a:cubicBezTo>
                  <a:pt x="12250" y="21064"/>
                  <a:pt x="11566" y="21600"/>
                  <a:pt x="10719" y="21600"/>
                </a:cubicBezTo>
                <a:cubicBezTo>
                  <a:pt x="9872" y="21600"/>
                  <a:pt x="9188" y="21064"/>
                  <a:pt x="9188" y="20400"/>
                </a:cubicBezTo>
                <a:lnTo>
                  <a:pt x="9188" y="18000"/>
                </a:lnTo>
                <a:lnTo>
                  <a:pt x="1149" y="18000"/>
                </a:lnTo>
                <a:cubicBezTo>
                  <a:pt x="699" y="18000"/>
                  <a:pt x="292" y="17797"/>
                  <a:pt x="106" y="17479"/>
                </a:cubicBezTo>
                <a:cubicBezTo>
                  <a:pt x="-81" y="17160"/>
                  <a:pt x="-19" y="16785"/>
                  <a:pt x="273" y="16519"/>
                </a:cubicBezTo>
                <a:lnTo>
                  <a:pt x="4522" y="12600"/>
                </a:lnTo>
                <a:lnTo>
                  <a:pt x="2680" y="12600"/>
                </a:lnTo>
                <a:cubicBezTo>
                  <a:pt x="2230" y="12600"/>
                  <a:pt x="1823" y="12397"/>
                  <a:pt x="1637" y="12079"/>
                </a:cubicBezTo>
                <a:cubicBezTo>
                  <a:pt x="1450" y="11760"/>
                  <a:pt x="1512" y="11385"/>
                  <a:pt x="1804" y="11119"/>
                </a:cubicBezTo>
                <a:lnTo>
                  <a:pt x="5403" y="7800"/>
                </a:lnTo>
                <a:lnTo>
                  <a:pt x="4211" y="7800"/>
                </a:lnTo>
                <a:cubicBezTo>
                  <a:pt x="3761" y="7800"/>
                  <a:pt x="3355" y="7597"/>
                  <a:pt x="3168" y="7279"/>
                </a:cubicBezTo>
                <a:cubicBezTo>
                  <a:pt x="2981" y="6960"/>
                  <a:pt x="3044" y="6585"/>
                  <a:pt x="3336" y="6319"/>
                </a:cubicBezTo>
                <a:lnTo>
                  <a:pt x="9843" y="319"/>
                </a:lnTo>
                <a:cubicBezTo>
                  <a:pt x="10063" y="116"/>
                  <a:pt x="10384" y="0"/>
                  <a:pt x="10719" y="0"/>
                </a:cubicBezTo>
                <a:close/>
              </a:path>
            </a:pathLst>
          </a:custGeom>
          <a:solidFill>
            <a:srgbClr val="E74C3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1" name="Text 21"/>
          <p:cNvSpPr txBox="1"/>
          <p:nvPr/>
        </p:nvSpPr>
        <p:spPr>
          <a:xfrm>
            <a:off x="9144000" y="3384376"/>
            <a:ext cx="2804232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>
                <a:solidFill>
                  <a:srgbClr val="E74C3C"/>
                </a:solidFill>
              </a:defRPr>
            </a:pPr>
            <a:r>
              <a:t>Wilted Tree</a:t>
            </a:r>
            <a:r>
              <a:rPr b="0">
                <a:solidFill>
                  <a:srgbClr val="1F2937"/>
                </a:solidFill>
              </a:rPr>
              <a:t> = Excessive Usage</a:t>
            </a:r>
          </a:p>
        </p:txBody>
      </p:sp>
      <p:sp>
        <p:nvSpPr>
          <p:cNvPr id="82" name="Shape 22"/>
          <p:cNvSpPr/>
          <p:nvPr/>
        </p:nvSpPr>
        <p:spPr>
          <a:xfrm>
            <a:off x="1193800" y="4318000"/>
            <a:ext cx="7048500" cy="24765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Shape 23"/>
          <p:cNvSpPr/>
          <p:nvPr/>
        </p:nvSpPr>
        <p:spPr>
          <a:xfrm>
            <a:off x="1447800" y="4470400"/>
            <a:ext cx="381000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563" y="3096"/>
                </a:moveTo>
                <a:cubicBezTo>
                  <a:pt x="13884" y="2515"/>
                  <a:pt x="14466" y="2160"/>
                  <a:pt x="15095" y="2160"/>
                </a:cubicBezTo>
                <a:lnTo>
                  <a:pt x="15188" y="2160"/>
                </a:lnTo>
                <a:cubicBezTo>
                  <a:pt x="16120" y="2160"/>
                  <a:pt x="16875" y="2966"/>
                  <a:pt x="16875" y="3960"/>
                </a:cubicBezTo>
                <a:cubicBezTo>
                  <a:pt x="16875" y="4955"/>
                  <a:pt x="16120" y="5760"/>
                  <a:pt x="15188" y="5760"/>
                </a:cubicBezTo>
                <a:lnTo>
                  <a:pt x="12095" y="5760"/>
                </a:lnTo>
                <a:lnTo>
                  <a:pt x="13563" y="3096"/>
                </a:lnTo>
                <a:close/>
                <a:moveTo>
                  <a:pt x="8037" y="3096"/>
                </a:moveTo>
                <a:lnTo>
                  <a:pt x="9505" y="5760"/>
                </a:lnTo>
                <a:lnTo>
                  <a:pt x="6412" y="5760"/>
                </a:lnTo>
                <a:cubicBezTo>
                  <a:pt x="5480" y="5760"/>
                  <a:pt x="4725" y="4955"/>
                  <a:pt x="4725" y="3960"/>
                </a:cubicBezTo>
                <a:cubicBezTo>
                  <a:pt x="4725" y="2966"/>
                  <a:pt x="5480" y="2160"/>
                  <a:pt x="6412" y="2160"/>
                </a:cubicBezTo>
                <a:lnTo>
                  <a:pt x="6505" y="2160"/>
                </a:lnTo>
                <a:cubicBezTo>
                  <a:pt x="7134" y="2160"/>
                  <a:pt x="7720" y="2515"/>
                  <a:pt x="8037" y="3096"/>
                </a:cubicBezTo>
                <a:close/>
                <a:moveTo>
                  <a:pt x="11817" y="2002"/>
                </a:moveTo>
                <a:lnTo>
                  <a:pt x="10800" y="3847"/>
                </a:lnTo>
                <a:lnTo>
                  <a:pt x="9783" y="2002"/>
                </a:lnTo>
                <a:cubicBezTo>
                  <a:pt x="9100" y="761"/>
                  <a:pt x="7851" y="0"/>
                  <a:pt x="6505" y="0"/>
                </a:cubicBezTo>
                <a:lnTo>
                  <a:pt x="6412" y="0"/>
                </a:lnTo>
                <a:cubicBezTo>
                  <a:pt x="4362" y="0"/>
                  <a:pt x="2700" y="1773"/>
                  <a:pt x="2700" y="3960"/>
                </a:cubicBezTo>
                <a:cubicBezTo>
                  <a:pt x="2700" y="4608"/>
                  <a:pt x="2848" y="5220"/>
                  <a:pt x="3105" y="5760"/>
                </a:cubicBezTo>
                <a:lnTo>
                  <a:pt x="1350" y="5760"/>
                </a:lnTo>
                <a:cubicBezTo>
                  <a:pt x="603" y="5760"/>
                  <a:pt x="0" y="6403"/>
                  <a:pt x="0" y="7200"/>
                </a:cubicBezTo>
                <a:lnTo>
                  <a:pt x="0" y="8640"/>
                </a:lnTo>
                <a:cubicBezTo>
                  <a:pt x="0" y="9436"/>
                  <a:pt x="603" y="10080"/>
                  <a:pt x="1350" y="10080"/>
                </a:cubicBezTo>
                <a:lnTo>
                  <a:pt x="20250" y="10080"/>
                </a:lnTo>
                <a:cubicBezTo>
                  <a:pt x="20997" y="10080"/>
                  <a:pt x="21600" y="9436"/>
                  <a:pt x="21600" y="8640"/>
                </a:cubicBezTo>
                <a:lnTo>
                  <a:pt x="21600" y="7200"/>
                </a:lnTo>
                <a:cubicBezTo>
                  <a:pt x="21600" y="6403"/>
                  <a:pt x="20997" y="5760"/>
                  <a:pt x="20250" y="5760"/>
                </a:cubicBezTo>
                <a:lnTo>
                  <a:pt x="18495" y="5760"/>
                </a:lnTo>
                <a:cubicBezTo>
                  <a:pt x="18752" y="5220"/>
                  <a:pt x="18900" y="4608"/>
                  <a:pt x="18900" y="3960"/>
                </a:cubicBezTo>
                <a:cubicBezTo>
                  <a:pt x="18900" y="1773"/>
                  <a:pt x="17238" y="0"/>
                  <a:pt x="15188" y="0"/>
                </a:cubicBezTo>
                <a:lnTo>
                  <a:pt x="15095" y="0"/>
                </a:lnTo>
                <a:cubicBezTo>
                  <a:pt x="13749" y="0"/>
                  <a:pt x="12500" y="761"/>
                  <a:pt x="11817" y="1998"/>
                </a:cubicBezTo>
                <a:close/>
                <a:moveTo>
                  <a:pt x="20250" y="12240"/>
                </a:moveTo>
                <a:lnTo>
                  <a:pt x="11812" y="12240"/>
                </a:lnTo>
                <a:lnTo>
                  <a:pt x="11812" y="21600"/>
                </a:lnTo>
                <a:lnTo>
                  <a:pt x="17550" y="21600"/>
                </a:lnTo>
                <a:cubicBezTo>
                  <a:pt x="19039" y="21600"/>
                  <a:pt x="20250" y="20308"/>
                  <a:pt x="20250" y="18720"/>
                </a:cubicBezTo>
                <a:lnTo>
                  <a:pt x="20250" y="12240"/>
                </a:lnTo>
                <a:close/>
                <a:moveTo>
                  <a:pt x="9788" y="12240"/>
                </a:moveTo>
                <a:lnTo>
                  <a:pt x="1350" y="12240"/>
                </a:lnTo>
                <a:lnTo>
                  <a:pt x="1350" y="18720"/>
                </a:lnTo>
                <a:cubicBezTo>
                  <a:pt x="1350" y="20308"/>
                  <a:pt x="2561" y="21600"/>
                  <a:pt x="4050" y="21600"/>
                </a:cubicBezTo>
                <a:lnTo>
                  <a:pt x="9788" y="21600"/>
                </a:lnTo>
                <a:lnTo>
                  <a:pt x="9788" y="12240"/>
                </a:ln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4" name="Text 24"/>
          <p:cNvSpPr txBox="1"/>
          <p:nvPr/>
        </p:nvSpPr>
        <p:spPr>
          <a:xfrm>
            <a:off x="1930400" y="4490591"/>
            <a:ext cx="4321051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lnSpc>
                <a:spcPct val="130000"/>
              </a:lnSpc>
              <a:defRPr b="1" sz="2800">
                <a:solidFill>
                  <a:srgbClr val="2F5496"/>
                </a:solidFill>
              </a:defRPr>
            </a:lvl1pPr>
          </a:lstStyle>
          <a:p>
            <a:pPr/>
            <a:r>
              <a:t>Reward &amp; Motivation System</a:t>
            </a:r>
          </a:p>
        </p:txBody>
      </p:sp>
      <p:sp>
        <p:nvSpPr>
          <p:cNvPr id="85" name="Text 25"/>
          <p:cNvSpPr txBox="1"/>
          <p:nvPr/>
        </p:nvSpPr>
        <p:spPr>
          <a:xfrm>
            <a:off x="1447800" y="4978400"/>
            <a:ext cx="6540500" cy="1480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50000"/>
              </a:lnSpc>
              <a:defRPr b="1">
                <a:solidFill>
                  <a:srgbClr val="1F2937"/>
                </a:solidFill>
              </a:defRPr>
            </a:pPr>
            <a:r>
              <a:t>Earn points for:</a:t>
            </a:r>
            <a:endParaRPr sz="1600"/>
          </a:p>
          <a:p>
            <a:pPr marL="254000" indent="-254000">
              <a:lnSpc>
                <a:spcPct val="150000"/>
              </a:lnSpc>
              <a:buSzPct val="100000"/>
              <a:buChar char="•"/>
              <a:defRPr>
                <a:solidFill>
                  <a:srgbClr val="1F2937"/>
                </a:solidFill>
              </a:defRPr>
            </a:pPr>
            <a:r>
              <a:t>Turning OFF unnecessary lights &amp; fans</a:t>
            </a:r>
            <a:endParaRPr sz="1600"/>
          </a:p>
          <a:p>
            <a:pPr marL="254000" indent="-254000">
              <a:lnSpc>
                <a:spcPct val="150000"/>
              </a:lnSpc>
              <a:buSzPct val="100000"/>
              <a:buChar char="•"/>
              <a:defRPr>
                <a:solidFill>
                  <a:srgbClr val="1F2937"/>
                </a:solidFill>
              </a:defRPr>
            </a:pPr>
            <a:r>
              <a:t>Using AC responsibly, avoiding idle devices</a:t>
            </a:r>
            <a:endParaRPr sz="1600"/>
          </a:p>
          <a:p>
            <a:pPr marL="254000" indent="-254000">
              <a:lnSpc>
                <a:spcPct val="150000"/>
              </a:lnSpc>
              <a:buSzPct val="100000"/>
              <a:buChar char="•"/>
              <a:defRPr>
                <a:solidFill>
                  <a:srgbClr val="1F2937"/>
                </a:solidFill>
              </a:defRPr>
            </a:pPr>
            <a:r>
              <a:t>Staying within energy limits</a:t>
            </a:r>
          </a:p>
        </p:txBody>
      </p:sp>
      <p:sp>
        <p:nvSpPr>
          <p:cNvPr id="86" name="Shape 26"/>
          <p:cNvSpPr/>
          <p:nvPr/>
        </p:nvSpPr>
        <p:spPr>
          <a:xfrm>
            <a:off x="8496300" y="4318000"/>
            <a:ext cx="7048500" cy="24765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7" name="Shape 27"/>
          <p:cNvSpPr/>
          <p:nvPr/>
        </p:nvSpPr>
        <p:spPr>
          <a:xfrm>
            <a:off x="8702675" y="4446587"/>
            <a:ext cx="476250" cy="381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880" y="1350"/>
                </a:moveTo>
                <a:cubicBezTo>
                  <a:pt x="11880" y="603"/>
                  <a:pt x="11397" y="0"/>
                  <a:pt x="10800" y="0"/>
                </a:cubicBezTo>
                <a:cubicBezTo>
                  <a:pt x="10203" y="0"/>
                  <a:pt x="9720" y="603"/>
                  <a:pt x="9720" y="1350"/>
                </a:cubicBezTo>
                <a:lnTo>
                  <a:pt x="9720" y="4050"/>
                </a:lnTo>
                <a:lnTo>
                  <a:pt x="6480" y="4050"/>
                </a:lnTo>
                <a:cubicBezTo>
                  <a:pt x="4691" y="4050"/>
                  <a:pt x="3240" y="5864"/>
                  <a:pt x="3240" y="8100"/>
                </a:cubicBezTo>
                <a:lnTo>
                  <a:pt x="3240" y="17550"/>
                </a:lnTo>
                <a:cubicBezTo>
                  <a:pt x="3240" y="19786"/>
                  <a:pt x="4691" y="21600"/>
                  <a:pt x="6480" y="21600"/>
                </a:cubicBezTo>
                <a:lnTo>
                  <a:pt x="15120" y="21600"/>
                </a:lnTo>
                <a:cubicBezTo>
                  <a:pt x="16909" y="21600"/>
                  <a:pt x="18360" y="19786"/>
                  <a:pt x="18360" y="17550"/>
                </a:cubicBezTo>
                <a:lnTo>
                  <a:pt x="18360" y="8100"/>
                </a:lnTo>
                <a:cubicBezTo>
                  <a:pt x="18360" y="5864"/>
                  <a:pt x="16909" y="4050"/>
                  <a:pt x="15120" y="4050"/>
                </a:cubicBezTo>
                <a:lnTo>
                  <a:pt x="11880" y="4050"/>
                </a:lnTo>
                <a:lnTo>
                  <a:pt x="11880" y="1350"/>
                </a:lnTo>
                <a:close/>
                <a:moveTo>
                  <a:pt x="5400" y="16875"/>
                </a:moveTo>
                <a:cubicBezTo>
                  <a:pt x="5400" y="16314"/>
                  <a:pt x="5761" y="15862"/>
                  <a:pt x="6210" y="15862"/>
                </a:cubicBezTo>
                <a:lnTo>
                  <a:pt x="7290" y="15862"/>
                </a:lnTo>
                <a:cubicBezTo>
                  <a:pt x="7739" y="15862"/>
                  <a:pt x="8100" y="16314"/>
                  <a:pt x="8100" y="16875"/>
                </a:cubicBezTo>
                <a:cubicBezTo>
                  <a:pt x="8100" y="17436"/>
                  <a:pt x="7739" y="17887"/>
                  <a:pt x="7290" y="17887"/>
                </a:cubicBezTo>
                <a:lnTo>
                  <a:pt x="6210" y="17887"/>
                </a:lnTo>
                <a:cubicBezTo>
                  <a:pt x="5761" y="17887"/>
                  <a:pt x="5400" y="17436"/>
                  <a:pt x="5400" y="16875"/>
                </a:cubicBezTo>
                <a:close/>
                <a:moveTo>
                  <a:pt x="9450" y="16875"/>
                </a:moveTo>
                <a:cubicBezTo>
                  <a:pt x="9450" y="16314"/>
                  <a:pt x="9811" y="15862"/>
                  <a:pt x="10260" y="15862"/>
                </a:cubicBezTo>
                <a:lnTo>
                  <a:pt x="11340" y="15862"/>
                </a:lnTo>
                <a:cubicBezTo>
                  <a:pt x="11789" y="15862"/>
                  <a:pt x="12150" y="16314"/>
                  <a:pt x="12150" y="16875"/>
                </a:cubicBezTo>
                <a:cubicBezTo>
                  <a:pt x="12150" y="17436"/>
                  <a:pt x="11789" y="17887"/>
                  <a:pt x="11340" y="17887"/>
                </a:cubicBezTo>
                <a:lnTo>
                  <a:pt x="10260" y="17887"/>
                </a:lnTo>
                <a:cubicBezTo>
                  <a:pt x="9811" y="17887"/>
                  <a:pt x="9450" y="17436"/>
                  <a:pt x="9450" y="16875"/>
                </a:cubicBezTo>
                <a:close/>
                <a:moveTo>
                  <a:pt x="13500" y="16875"/>
                </a:moveTo>
                <a:cubicBezTo>
                  <a:pt x="13500" y="16314"/>
                  <a:pt x="13861" y="15862"/>
                  <a:pt x="14310" y="15862"/>
                </a:cubicBezTo>
                <a:lnTo>
                  <a:pt x="15390" y="15862"/>
                </a:lnTo>
                <a:cubicBezTo>
                  <a:pt x="15839" y="15862"/>
                  <a:pt x="16200" y="16314"/>
                  <a:pt x="16200" y="16875"/>
                </a:cubicBezTo>
                <a:cubicBezTo>
                  <a:pt x="16200" y="17436"/>
                  <a:pt x="15839" y="17887"/>
                  <a:pt x="15390" y="17887"/>
                </a:cubicBezTo>
                <a:lnTo>
                  <a:pt x="14310" y="17887"/>
                </a:lnTo>
                <a:cubicBezTo>
                  <a:pt x="13861" y="17887"/>
                  <a:pt x="13500" y="17436"/>
                  <a:pt x="13500" y="16875"/>
                </a:cubicBezTo>
                <a:close/>
                <a:moveTo>
                  <a:pt x="7560" y="8775"/>
                </a:moveTo>
                <a:cubicBezTo>
                  <a:pt x="8454" y="8775"/>
                  <a:pt x="9180" y="9682"/>
                  <a:pt x="9180" y="10800"/>
                </a:cubicBezTo>
                <a:cubicBezTo>
                  <a:pt x="9180" y="11918"/>
                  <a:pt x="8454" y="12825"/>
                  <a:pt x="7560" y="12825"/>
                </a:cubicBezTo>
                <a:cubicBezTo>
                  <a:pt x="6666" y="12825"/>
                  <a:pt x="5940" y="11918"/>
                  <a:pt x="5940" y="10800"/>
                </a:cubicBezTo>
                <a:cubicBezTo>
                  <a:pt x="5940" y="9682"/>
                  <a:pt x="6666" y="8775"/>
                  <a:pt x="7560" y="8775"/>
                </a:cubicBezTo>
                <a:close/>
                <a:moveTo>
                  <a:pt x="12420" y="10800"/>
                </a:moveTo>
                <a:cubicBezTo>
                  <a:pt x="12420" y="9682"/>
                  <a:pt x="13146" y="8775"/>
                  <a:pt x="14040" y="8775"/>
                </a:cubicBezTo>
                <a:cubicBezTo>
                  <a:pt x="14934" y="8775"/>
                  <a:pt x="15660" y="9682"/>
                  <a:pt x="15660" y="10800"/>
                </a:cubicBezTo>
                <a:cubicBezTo>
                  <a:pt x="15660" y="11918"/>
                  <a:pt x="14934" y="12825"/>
                  <a:pt x="14040" y="12825"/>
                </a:cubicBezTo>
                <a:cubicBezTo>
                  <a:pt x="13146" y="12825"/>
                  <a:pt x="12420" y="11918"/>
                  <a:pt x="12420" y="10800"/>
                </a:cubicBezTo>
                <a:close/>
                <a:moveTo>
                  <a:pt x="2160" y="10800"/>
                </a:moveTo>
                <a:cubicBezTo>
                  <a:pt x="2160" y="10053"/>
                  <a:pt x="1677" y="9450"/>
                  <a:pt x="1080" y="9450"/>
                </a:cubicBezTo>
                <a:cubicBezTo>
                  <a:pt x="483" y="9450"/>
                  <a:pt x="0" y="10053"/>
                  <a:pt x="0" y="10800"/>
                </a:cubicBezTo>
                <a:lnTo>
                  <a:pt x="0" y="14850"/>
                </a:lnTo>
                <a:cubicBezTo>
                  <a:pt x="0" y="15597"/>
                  <a:pt x="483" y="16200"/>
                  <a:pt x="1080" y="16200"/>
                </a:cubicBezTo>
                <a:cubicBezTo>
                  <a:pt x="1677" y="16200"/>
                  <a:pt x="2160" y="15597"/>
                  <a:pt x="2160" y="14850"/>
                </a:cubicBezTo>
                <a:lnTo>
                  <a:pt x="2160" y="10800"/>
                </a:lnTo>
                <a:close/>
                <a:moveTo>
                  <a:pt x="20520" y="9450"/>
                </a:moveTo>
                <a:cubicBezTo>
                  <a:pt x="19923" y="9450"/>
                  <a:pt x="19440" y="10053"/>
                  <a:pt x="19440" y="10800"/>
                </a:cubicBezTo>
                <a:lnTo>
                  <a:pt x="19440" y="14850"/>
                </a:lnTo>
                <a:cubicBezTo>
                  <a:pt x="19440" y="15597"/>
                  <a:pt x="19923" y="16200"/>
                  <a:pt x="20520" y="16200"/>
                </a:cubicBezTo>
                <a:cubicBezTo>
                  <a:pt x="21117" y="16200"/>
                  <a:pt x="21600" y="15597"/>
                  <a:pt x="21600" y="14850"/>
                </a:cubicBezTo>
                <a:lnTo>
                  <a:pt x="21600" y="10800"/>
                </a:lnTo>
                <a:cubicBezTo>
                  <a:pt x="21600" y="10053"/>
                  <a:pt x="21117" y="9450"/>
                  <a:pt x="20520" y="9450"/>
                </a:cubicBezTo>
                <a:close/>
              </a:path>
            </a:pathLst>
          </a:custGeom>
          <a:solidFill>
            <a:srgbClr val="2F549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8" name="Text 28"/>
          <p:cNvSpPr txBox="1"/>
          <p:nvPr/>
        </p:nvSpPr>
        <p:spPr>
          <a:xfrm>
            <a:off x="9232900" y="4490591"/>
            <a:ext cx="3679478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lnSpc>
                <a:spcPct val="130000"/>
              </a:lnSpc>
              <a:defRPr b="1" sz="2800">
                <a:solidFill>
                  <a:srgbClr val="2F5496"/>
                </a:solidFill>
              </a:defRPr>
            </a:lvl1pPr>
          </a:lstStyle>
          <a:p>
            <a:pPr/>
            <a:r>
              <a:t>Automated Optimization</a:t>
            </a:r>
          </a:p>
        </p:txBody>
      </p:sp>
      <p:sp>
        <p:nvSpPr>
          <p:cNvPr id="89" name="Text 29"/>
          <p:cNvSpPr txBox="1"/>
          <p:nvPr/>
        </p:nvSpPr>
        <p:spPr>
          <a:xfrm>
            <a:off x="8750300" y="4978400"/>
            <a:ext cx="6540500" cy="1480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50000"/>
              </a:lnSpc>
              <a:defRPr b="1">
                <a:solidFill>
                  <a:srgbClr val="1F2937"/>
                </a:solidFill>
              </a:defRPr>
            </a:pPr>
            <a:r>
              <a:t>When rooms are empty:</a:t>
            </a:r>
            <a:endParaRPr sz="1600"/>
          </a:p>
          <a:p>
            <a:pPr marL="254000" indent="-254000">
              <a:lnSpc>
                <a:spcPct val="150000"/>
              </a:lnSpc>
              <a:buSzPct val="100000"/>
              <a:buChar char="•"/>
              <a:defRPr>
                <a:solidFill>
                  <a:srgbClr val="1F2937"/>
                </a:solidFill>
              </a:defRPr>
            </a:pPr>
            <a:r>
              <a:t>Lights &amp; fans auto turn OFF</a:t>
            </a:r>
            <a:endParaRPr sz="1600"/>
          </a:p>
          <a:p>
            <a:pPr marL="254000" indent="-254000">
              <a:lnSpc>
                <a:spcPct val="150000"/>
              </a:lnSpc>
              <a:buSzPct val="100000"/>
              <a:buChar char="•"/>
              <a:defRPr>
                <a:solidFill>
                  <a:srgbClr val="1F2937"/>
                </a:solidFill>
              </a:defRPr>
            </a:pPr>
            <a:r>
              <a:t>AC switches to eco mode</a:t>
            </a:r>
            <a:endParaRPr sz="1600"/>
          </a:p>
          <a:p>
            <a:pPr marL="254000" indent="-254000">
              <a:lnSpc>
                <a:spcPct val="150000"/>
              </a:lnSpc>
              <a:buSzPct val="100000"/>
              <a:buChar char="•"/>
              <a:defRPr>
                <a:solidFill>
                  <a:srgbClr val="1F2937"/>
                </a:solidFill>
              </a:defRPr>
            </a:pPr>
            <a:r>
              <a:t>Idle systems enter sleep mode</a:t>
            </a:r>
          </a:p>
        </p:txBody>
      </p:sp>
      <p:sp>
        <p:nvSpPr>
          <p:cNvPr id="90" name="Shape 30"/>
          <p:cNvSpPr/>
          <p:nvPr/>
        </p:nvSpPr>
        <p:spPr>
          <a:xfrm>
            <a:off x="1193800" y="6985000"/>
            <a:ext cx="14351000" cy="698500"/>
          </a:xfrm>
          <a:prstGeom prst="roundRect">
            <a:avLst>
              <a:gd name="adj" fmla="val 8000"/>
            </a:avLst>
          </a:prstGeom>
          <a:solidFill>
            <a:srgbClr val="2F549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1" name="Text 31"/>
          <p:cNvSpPr txBox="1"/>
          <p:nvPr/>
        </p:nvSpPr>
        <p:spPr>
          <a:xfrm>
            <a:off x="1447800" y="7209879"/>
            <a:ext cx="13843000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2000">
                <a:solidFill>
                  <a:srgbClr val="FFFFFF"/>
                </a:solidFill>
              </a:defRPr>
            </a:lvl1pPr>
          </a:lstStyle>
          <a:p>
            <a:pPr/>
            <a:r>
              <a:t>"Our solution combines automation, teamwork, and behavioral motivation."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0"/>
          <p:cNvSpPr/>
          <p:nvPr/>
        </p:nvSpPr>
        <p:spPr>
          <a:xfrm>
            <a:off x="0" y="0"/>
            <a:ext cx="898398" cy="914400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4" name="Text 1"/>
          <p:cNvSpPr txBox="1"/>
          <p:nvPr/>
        </p:nvSpPr>
        <p:spPr>
          <a:xfrm>
            <a:off x="1116584" y="398506"/>
            <a:ext cx="5579170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2400">
                <a:solidFill>
                  <a:srgbClr val="1F2937"/>
                </a:solidFill>
              </a:defRPr>
            </a:pPr>
            <a:r>
              <a:t>Theme:</a:t>
            </a:r>
            <a:r>
              <a:rPr b="0"/>
              <a:t> Energy Conservation and Digitization</a:t>
            </a:r>
          </a:p>
        </p:txBody>
      </p:sp>
      <p:sp>
        <p:nvSpPr>
          <p:cNvPr id="95" name="Text 2"/>
          <p:cNvSpPr txBox="1"/>
          <p:nvPr/>
        </p:nvSpPr>
        <p:spPr>
          <a:xfrm>
            <a:off x="3801782" y="1046658"/>
            <a:ext cx="9546135" cy="510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lnSpc>
                <a:spcPct val="120000"/>
              </a:lnSpc>
              <a:defRPr b="1" sz="4000">
                <a:solidFill>
                  <a:srgbClr val="1F2937"/>
                </a:solidFill>
              </a:defRPr>
            </a:lvl1pPr>
          </a:lstStyle>
          <a:p>
            <a:pPr/>
            <a:r>
              <a:t>Solution Overview — How Our System Works</a:t>
            </a:r>
          </a:p>
        </p:txBody>
      </p:sp>
      <p:sp>
        <p:nvSpPr>
          <p:cNvPr id="96" name="Shape 3"/>
          <p:cNvSpPr/>
          <p:nvPr/>
        </p:nvSpPr>
        <p:spPr>
          <a:xfrm>
            <a:off x="1193800" y="1879600"/>
            <a:ext cx="2540000" cy="32385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7" name="Shape 4"/>
          <p:cNvSpPr/>
          <p:nvPr/>
        </p:nvSpPr>
        <p:spPr>
          <a:xfrm>
            <a:off x="2235200" y="2006600"/>
            <a:ext cx="457200" cy="457200"/>
          </a:xfrm>
          <a:prstGeom prst="ellipse">
            <a:avLst/>
          </a:prstGeom>
          <a:solidFill>
            <a:srgbClr val="2F549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8" name="Text 5"/>
          <p:cNvSpPr txBox="1"/>
          <p:nvPr/>
        </p:nvSpPr>
        <p:spPr>
          <a:xfrm>
            <a:off x="2399518" y="2114376"/>
            <a:ext cx="128564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99" name="Text 6"/>
          <p:cNvSpPr txBox="1"/>
          <p:nvPr/>
        </p:nvSpPr>
        <p:spPr>
          <a:xfrm>
            <a:off x="1706810" y="2613223"/>
            <a:ext cx="1513980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defRPr b="1" sz="1600">
                <a:solidFill>
                  <a:srgbClr val="2F5496"/>
                </a:solidFill>
              </a:defRPr>
            </a:lvl1pPr>
          </a:lstStyle>
          <a:p>
            <a:pPr/>
            <a:r>
              <a:t>Smart Monitoring</a:t>
            </a:r>
          </a:p>
        </p:txBody>
      </p:sp>
      <p:sp>
        <p:nvSpPr>
          <p:cNvPr id="100" name="Text 7"/>
          <p:cNvSpPr txBox="1"/>
          <p:nvPr/>
        </p:nvSpPr>
        <p:spPr>
          <a:xfrm>
            <a:off x="1320800" y="2946400"/>
            <a:ext cx="2286000" cy="1159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54000" indent="-254000">
              <a:lnSpc>
                <a:spcPct val="150000"/>
              </a:lnSpc>
              <a:buSzPct val="100000"/>
              <a:buChar char="•"/>
              <a:defRPr sz="1400">
                <a:solidFill>
                  <a:srgbClr val="1F2937"/>
                </a:solidFill>
              </a:defRPr>
            </a:pPr>
            <a:r>
              <a:t>Smart meters track usage</a:t>
            </a:r>
            <a:endParaRPr sz="1600"/>
          </a:p>
          <a:p>
            <a:pPr marL="254000" indent="-254000">
              <a:lnSpc>
                <a:spcPct val="150000"/>
              </a:lnSpc>
              <a:buSzPct val="100000"/>
              <a:buChar char="•"/>
              <a:defRPr sz="1400">
                <a:solidFill>
                  <a:srgbClr val="1F2937"/>
                </a:solidFill>
              </a:defRPr>
            </a:pPr>
            <a:r>
              <a:t>PIR sensors detect occupancy</a:t>
            </a:r>
            <a:endParaRPr sz="1600"/>
          </a:p>
          <a:p>
            <a:pPr marL="254000" indent="-254000">
              <a:lnSpc>
                <a:spcPct val="150000"/>
              </a:lnSpc>
              <a:buSzPct val="100000"/>
              <a:buChar char="•"/>
              <a:defRPr sz="1400">
                <a:solidFill>
                  <a:srgbClr val="1F2937"/>
                </a:solidFill>
              </a:defRPr>
            </a:pPr>
            <a:r>
              <a:t>Smart plugs control devices</a:t>
            </a:r>
          </a:p>
        </p:txBody>
      </p:sp>
      <p:sp>
        <p:nvSpPr>
          <p:cNvPr id="101" name="Shape 8"/>
          <p:cNvSpPr/>
          <p:nvPr/>
        </p:nvSpPr>
        <p:spPr>
          <a:xfrm>
            <a:off x="3759200" y="3340100"/>
            <a:ext cx="254000" cy="0"/>
          </a:xfrm>
          <a:prstGeom prst="line">
            <a:avLst/>
          </a:prstGeom>
          <a:ln w="25400">
            <a:solidFill>
              <a:srgbClr val="2F5496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02" name="Shape 9"/>
          <p:cNvSpPr/>
          <p:nvPr/>
        </p:nvSpPr>
        <p:spPr>
          <a:xfrm>
            <a:off x="4064000" y="1879600"/>
            <a:ext cx="2540000" cy="32385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3" name="Shape 10"/>
          <p:cNvSpPr/>
          <p:nvPr/>
        </p:nvSpPr>
        <p:spPr>
          <a:xfrm>
            <a:off x="5105400" y="2006600"/>
            <a:ext cx="457200" cy="457200"/>
          </a:xfrm>
          <a:prstGeom prst="ellipse">
            <a:avLst/>
          </a:prstGeom>
          <a:solidFill>
            <a:srgbClr val="2F549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4" name="Text 11"/>
          <p:cNvSpPr txBox="1"/>
          <p:nvPr/>
        </p:nvSpPr>
        <p:spPr>
          <a:xfrm>
            <a:off x="5269718" y="2114376"/>
            <a:ext cx="128564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05" name="Text 12"/>
          <p:cNvSpPr txBox="1"/>
          <p:nvPr/>
        </p:nvSpPr>
        <p:spPr>
          <a:xfrm>
            <a:off x="4532312" y="2613223"/>
            <a:ext cx="1603376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defRPr b="1" sz="1600">
                <a:solidFill>
                  <a:srgbClr val="2F5496"/>
                </a:solidFill>
              </a:defRPr>
            </a:lvl1pPr>
          </a:lstStyle>
          <a:p>
            <a:pPr/>
            <a:r>
              <a:t>Intelligent Analysis</a:t>
            </a:r>
          </a:p>
        </p:txBody>
      </p:sp>
      <p:sp>
        <p:nvSpPr>
          <p:cNvPr id="106" name="Text 13"/>
          <p:cNvSpPr txBox="1"/>
          <p:nvPr/>
        </p:nvSpPr>
        <p:spPr>
          <a:xfrm>
            <a:off x="4191000" y="2946400"/>
            <a:ext cx="2286000" cy="1152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54000" indent="-254000">
              <a:lnSpc>
                <a:spcPct val="150000"/>
              </a:lnSpc>
              <a:buSzPct val="100000"/>
              <a:buChar char="•"/>
              <a:defRPr sz="1500">
                <a:solidFill>
                  <a:srgbClr val="1F2937"/>
                </a:solidFill>
              </a:defRPr>
            </a:pPr>
            <a:r>
              <a:t>Usage patterns</a:t>
            </a:r>
            <a:endParaRPr sz="1600"/>
          </a:p>
          <a:p>
            <a:pPr marL="254000" indent="-254000">
              <a:lnSpc>
                <a:spcPct val="150000"/>
              </a:lnSpc>
              <a:buSzPct val="100000"/>
              <a:buChar char="•"/>
              <a:defRPr sz="1500">
                <a:solidFill>
                  <a:srgbClr val="1F2937"/>
                </a:solidFill>
              </a:defRPr>
            </a:pPr>
            <a:r>
              <a:t>Idle devices</a:t>
            </a:r>
            <a:endParaRPr sz="1600"/>
          </a:p>
          <a:p>
            <a:pPr marL="254000" indent="-254000">
              <a:lnSpc>
                <a:spcPct val="150000"/>
              </a:lnSpc>
              <a:buSzPct val="100000"/>
              <a:buChar char="•"/>
              <a:defRPr sz="1500">
                <a:solidFill>
                  <a:srgbClr val="1F2937"/>
                </a:solidFill>
              </a:defRPr>
            </a:pPr>
            <a:r>
              <a:t>Peak consumption</a:t>
            </a:r>
            <a:endParaRPr sz="1600"/>
          </a:p>
          <a:p>
            <a:pPr marL="254000" indent="-254000">
              <a:lnSpc>
                <a:spcPct val="150000"/>
              </a:lnSpc>
              <a:buSzPct val="100000"/>
              <a:buChar char="•"/>
              <a:defRPr sz="1500">
                <a:solidFill>
                  <a:srgbClr val="1F2937"/>
                </a:solidFill>
              </a:defRPr>
            </a:pPr>
            <a:r>
              <a:t>Department limits</a:t>
            </a:r>
          </a:p>
        </p:txBody>
      </p:sp>
      <p:sp>
        <p:nvSpPr>
          <p:cNvPr id="107" name="Shape 14"/>
          <p:cNvSpPr/>
          <p:nvPr/>
        </p:nvSpPr>
        <p:spPr>
          <a:xfrm>
            <a:off x="6629400" y="3340100"/>
            <a:ext cx="254000" cy="0"/>
          </a:xfrm>
          <a:prstGeom prst="line">
            <a:avLst/>
          </a:prstGeom>
          <a:ln w="25400">
            <a:solidFill>
              <a:srgbClr val="2F5496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08" name="Shape 15"/>
          <p:cNvSpPr/>
          <p:nvPr/>
        </p:nvSpPr>
        <p:spPr>
          <a:xfrm>
            <a:off x="6934200" y="1879600"/>
            <a:ext cx="2540000" cy="32385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9" name="Shape 16"/>
          <p:cNvSpPr/>
          <p:nvPr/>
        </p:nvSpPr>
        <p:spPr>
          <a:xfrm>
            <a:off x="7975600" y="2006600"/>
            <a:ext cx="457200" cy="457200"/>
          </a:xfrm>
          <a:prstGeom prst="ellipse">
            <a:avLst/>
          </a:prstGeom>
          <a:solidFill>
            <a:srgbClr val="2F549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0" name="Text 17"/>
          <p:cNvSpPr txBox="1"/>
          <p:nvPr/>
        </p:nvSpPr>
        <p:spPr>
          <a:xfrm>
            <a:off x="8139918" y="2114376"/>
            <a:ext cx="128564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11" name="Text 18"/>
          <p:cNvSpPr txBox="1"/>
          <p:nvPr/>
        </p:nvSpPr>
        <p:spPr>
          <a:xfrm>
            <a:off x="7290990" y="2613223"/>
            <a:ext cx="1826420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defRPr b="1" sz="1600">
                <a:solidFill>
                  <a:srgbClr val="2F5496"/>
                </a:solidFill>
              </a:defRPr>
            </a:lvl1pPr>
          </a:lstStyle>
          <a:p>
            <a:pPr/>
            <a:r>
              <a:t>Alerts &amp; Notifications</a:t>
            </a:r>
          </a:p>
        </p:txBody>
      </p:sp>
      <p:sp>
        <p:nvSpPr>
          <p:cNvPr id="112" name="Text 19"/>
          <p:cNvSpPr txBox="1"/>
          <p:nvPr/>
        </p:nvSpPr>
        <p:spPr>
          <a:xfrm>
            <a:off x="7061200" y="2946400"/>
            <a:ext cx="2286000" cy="830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54000" indent="-254000">
              <a:lnSpc>
                <a:spcPct val="150000"/>
              </a:lnSpc>
              <a:buSzPct val="100000"/>
              <a:buChar char="•"/>
              <a:defRPr b="1" sz="1500">
                <a:solidFill>
                  <a:srgbClr val="27AE60"/>
                </a:solidFill>
              </a:defRPr>
            </a:pPr>
            <a:r>
              <a:t>50%</a:t>
            </a:r>
            <a:r>
              <a:rPr b="0">
                <a:solidFill>
                  <a:srgbClr val="1F2937"/>
                </a:solidFill>
              </a:rPr>
              <a:t> Awareness</a:t>
            </a:r>
            <a:endParaRPr sz="1600"/>
          </a:p>
          <a:p>
            <a:pPr marL="254000" indent="-254000">
              <a:lnSpc>
                <a:spcPct val="150000"/>
              </a:lnSpc>
              <a:buSzPct val="100000"/>
              <a:buChar char="•"/>
              <a:defRPr b="1" sz="1500">
                <a:solidFill>
                  <a:srgbClr val="F39C12"/>
                </a:solidFill>
              </a:defRPr>
            </a:pPr>
            <a:r>
              <a:t>75%</a:t>
            </a:r>
            <a:r>
              <a:rPr b="0">
                <a:solidFill>
                  <a:srgbClr val="1F2937"/>
                </a:solidFill>
              </a:rPr>
              <a:t> Warning</a:t>
            </a:r>
            <a:endParaRPr sz="1600"/>
          </a:p>
          <a:p>
            <a:pPr marL="254000" indent="-254000">
              <a:lnSpc>
                <a:spcPct val="150000"/>
              </a:lnSpc>
              <a:buSzPct val="100000"/>
              <a:buChar char="•"/>
              <a:defRPr b="1" sz="1500">
                <a:solidFill>
                  <a:srgbClr val="E74C3C"/>
                </a:solidFill>
              </a:defRPr>
            </a:pPr>
            <a:r>
              <a:t>100%</a:t>
            </a:r>
            <a:r>
              <a:rPr b="0">
                <a:solidFill>
                  <a:srgbClr val="1F2937"/>
                </a:solidFill>
              </a:rPr>
              <a:t> Critical</a:t>
            </a:r>
          </a:p>
        </p:txBody>
      </p:sp>
      <p:sp>
        <p:nvSpPr>
          <p:cNvPr id="113" name="Shape 20"/>
          <p:cNvSpPr/>
          <p:nvPr/>
        </p:nvSpPr>
        <p:spPr>
          <a:xfrm>
            <a:off x="9499600" y="3340100"/>
            <a:ext cx="254000" cy="0"/>
          </a:xfrm>
          <a:prstGeom prst="line">
            <a:avLst/>
          </a:prstGeom>
          <a:ln w="25400">
            <a:solidFill>
              <a:srgbClr val="2F5496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14" name="Shape 21"/>
          <p:cNvSpPr/>
          <p:nvPr/>
        </p:nvSpPr>
        <p:spPr>
          <a:xfrm>
            <a:off x="9804400" y="1879600"/>
            <a:ext cx="2540000" cy="32385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5" name="Shape 22"/>
          <p:cNvSpPr/>
          <p:nvPr/>
        </p:nvSpPr>
        <p:spPr>
          <a:xfrm>
            <a:off x="10845800" y="2006600"/>
            <a:ext cx="457200" cy="457200"/>
          </a:xfrm>
          <a:prstGeom prst="ellipse">
            <a:avLst/>
          </a:prstGeom>
          <a:solidFill>
            <a:srgbClr val="2F549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6" name="Text 23"/>
          <p:cNvSpPr txBox="1"/>
          <p:nvPr/>
        </p:nvSpPr>
        <p:spPr>
          <a:xfrm>
            <a:off x="11010118" y="2114376"/>
            <a:ext cx="128564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17" name="Text 24"/>
          <p:cNvSpPr txBox="1"/>
          <p:nvPr/>
        </p:nvSpPr>
        <p:spPr>
          <a:xfrm>
            <a:off x="10256986" y="2613223"/>
            <a:ext cx="1634828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defRPr b="1" sz="1600">
                <a:solidFill>
                  <a:srgbClr val="2F5496"/>
                </a:solidFill>
              </a:defRPr>
            </a:lvl1pPr>
          </a:lstStyle>
          <a:p>
            <a:pPr/>
            <a:r>
              <a:t>Automated Control</a:t>
            </a:r>
          </a:p>
        </p:txBody>
      </p:sp>
      <p:sp>
        <p:nvSpPr>
          <p:cNvPr id="118" name="Text 25"/>
          <p:cNvSpPr txBox="1"/>
          <p:nvPr/>
        </p:nvSpPr>
        <p:spPr>
          <a:xfrm>
            <a:off x="9931400" y="2946400"/>
            <a:ext cx="2286000" cy="830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54000" indent="-254000">
              <a:lnSpc>
                <a:spcPct val="150000"/>
              </a:lnSpc>
              <a:buSzPct val="100000"/>
              <a:buChar char="•"/>
              <a:defRPr sz="1500">
                <a:solidFill>
                  <a:srgbClr val="1F2937"/>
                </a:solidFill>
              </a:defRPr>
            </a:pPr>
            <a:r>
              <a:t>Auto OFF lights &amp; fans</a:t>
            </a:r>
            <a:endParaRPr sz="1600"/>
          </a:p>
          <a:p>
            <a:pPr marL="254000" indent="-254000">
              <a:lnSpc>
                <a:spcPct val="150000"/>
              </a:lnSpc>
              <a:buSzPct val="100000"/>
              <a:buChar char="•"/>
              <a:defRPr sz="1500">
                <a:solidFill>
                  <a:srgbClr val="1F2937"/>
                </a:solidFill>
              </a:defRPr>
            </a:pPr>
            <a:r>
              <a:t>AC eco mode</a:t>
            </a:r>
            <a:endParaRPr sz="1600"/>
          </a:p>
          <a:p>
            <a:pPr marL="254000" indent="-254000">
              <a:lnSpc>
                <a:spcPct val="150000"/>
              </a:lnSpc>
              <a:buSzPct val="100000"/>
              <a:buChar char="•"/>
              <a:defRPr sz="1500">
                <a:solidFill>
                  <a:srgbClr val="1F2937"/>
                </a:solidFill>
              </a:defRPr>
            </a:pPr>
            <a:r>
              <a:t>Disconnect idle devices</a:t>
            </a:r>
          </a:p>
        </p:txBody>
      </p:sp>
      <p:sp>
        <p:nvSpPr>
          <p:cNvPr id="119" name="Shape 26"/>
          <p:cNvSpPr/>
          <p:nvPr/>
        </p:nvSpPr>
        <p:spPr>
          <a:xfrm>
            <a:off x="12369800" y="3340100"/>
            <a:ext cx="254000" cy="0"/>
          </a:xfrm>
          <a:prstGeom prst="line">
            <a:avLst/>
          </a:prstGeom>
          <a:ln w="25400">
            <a:solidFill>
              <a:srgbClr val="2F5496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20" name="Shape 27"/>
          <p:cNvSpPr/>
          <p:nvPr/>
        </p:nvSpPr>
        <p:spPr>
          <a:xfrm>
            <a:off x="12674600" y="1879600"/>
            <a:ext cx="2540000" cy="32385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1" name="Shape 28"/>
          <p:cNvSpPr/>
          <p:nvPr/>
        </p:nvSpPr>
        <p:spPr>
          <a:xfrm>
            <a:off x="13716000" y="2006600"/>
            <a:ext cx="457200" cy="457200"/>
          </a:xfrm>
          <a:prstGeom prst="ellipse">
            <a:avLst/>
          </a:prstGeom>
          <a:solidFill>
            <a:srgbClr val="2F549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Text 29"/>
          <p:cNvSpPr txBox="1"/>
          <p:nvPr/>
        </p:nvSpPr>
        <p:spPr>
          <a:xfrm>
            <a:off x="13880318" y="2114376"/>
            <a:ext cx="128564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23" name="Text 30"/>
          <p:cNvSpPr txBox="1"/>
          <p:nvPr/>
        </p:nvSpPr>
        <p:spPr>
          <a:xfrm>
            <a:off x="13199665" y="2613223"/>
            <a:ext cx="1489870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defRPr b="1" sz="1600">
                <a:solidFill>
                  <a:srgbClr val="2F5496"/>
                </a:solidFill>
              </a:defRPr>
            </a:lvl1pPr>
          </a:lstStyle>
          <a:p>
            <a:pPr/>
            <a:r>
              <a:t>User Engagement</a:t>
            </a:r>
          </a:p>
        </p:txBody>
      </p:sp>
      <p:sp>
        <p:nvSpPr>
          <p:cNvPr id="124" name="Text 31"/>
          <p:cNvSpPr txBox="1"/>
          <p:nvPr/>
        </p:nvSpPr>
        <p:spPr>
          <a:xfrm>
            <a:off x="12801600" y="2946400"/>
            <a:ext cx="2286000" cy="830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54000" indent="-254000">
              <a:lnSpc>
                <a:spcPct val="150000"/>
              </a:lnSpc>
              <a:buSzPct val="100000"/>
              <a:buChar char="•"/>
              <a:defRPr sz="1500">
                <a:solidFill>
                  <a:srgbClr val="1F2937"/>
                </a:solidFill>
              </a:defRPr>
            </a:pPr>
            <a:r>
              <a:t>Tree indicators</a:t>
            </a:r>
            <a:endParaRPr sz="1600"/>
          </a:p>
          <a:p>
            <a:pPr marL="254000" indent="-254000">
              <a:lnSpc>
                <a:spcPct val="150000"/>
              </a:lnSpc>
              <a:buSzPct val="100000"/>
              <a:buChar char="•"/>
              <a:defRPr sz="1500">
                <a:solidFill>
                  <a:srgbClr val="1F2937"/>
                </a:solidFill>
              </a:defRPr>
            </a:pPr>
            <a:r>
              <a:t>Leaderboards</a:t>
            </a:r>
            <a:endParaRPr sz="1600"/>
          </a:p>
          <a:p>
            <a:pPr marL="254000" indent="-254000">
              <a:lnSpc>
                <a:spcPct val="150000"/>
              </a:lnSpc>
              <a:buSzPct val="100000"/>
              <a:buChar char="•"/>
              <a:defRPr sz="1500">
                <a:solidFill>
                  <a:srgbClr val="1F2937"/>
                </a:solidFill>
              </a:defRPr>
            </a:pPr>
            <a:r>
              <a:t>Rewards</a:t>
            </a:r>
          </a:p>
        </p:txBody>
      </p:sp>
      <p:sp>
        <p:nvSpPr>
          <p:cNvPr id="125" name="Shape 32"/>
          <p:cNvSpPr/>
          <p:nvPr/>
        </p:nvSpPr>
        <p:spPr>
          <a:xfrm>
            <a:off x="1193800" y="5334000"/>
            <a:ext cx="14351000" cy="444500"/>
          </a:xfrm>
          <a:prstGeom prst="roundRect">
            <a:avLst>
              <a:gd name="adj" fmla="val 8000"/>
            </a:avLst>
          </a:prstGeom>
          <a:solidFill>
            <a:srgbClr val="2F549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6" name="Text 33"/>
          <p:cNvSpPr txBox="1"/>
          <p:nvPr/>
        </p:nvSpPr>
        <p:spPr>
          <a:xfrm>
            <a:off x="1447800" y="5435426"/>
            <a:ext cx="13843000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Complete Pipeline:</a:t>
            </a:r>
            <a:r>
              <a:rPr b="0"/>
              <a:t> Monitor → Analyze → Alert → Automate → Engage → Save Energy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0"/>
          <p:cNvSpPr/>
          <p:nvPr/>
        </p:nvSpPr>
        <p:spPr>
          <a:xfrm>
            <a:off x="0" y="0"/>
            <a:ext cx="898398" cy="914400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9" name="Text 1"/>
          <p:cNvSpPr txBox="1"/>
          <p:nvPr/>
        </p:nvSpPr>
        <p:spPr>
          <a:xfrm>
            <a:off x="1116584" y="398506"/>
            <a:ext cx="5579170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2400">
                <a:solidFill>
                  <a:srgbClr val="1F2937"/>
                </a:solidFill>
              </a:defRPr>
            </a:pPr>
            <a:r>
              <a:t>Theme:</a:t>
            </a:r>
            <a:r>
              <a:rPr b="0"/>
              <a:t> Energy Conservation and Digitization</a:t>
            </a:r>
          </a:p>
        </p:txBody>
      </p:sp>
      <p:sp>
        <p:nvSpPr>
          <p:cNvPr id="130" name="Text 2"/>
          <p:cNvSpPr txBox="1"/>
          <p:nvPr/>
        </p:nvSpPr>
        <p:spPr>
          <a:xfrm>
            <a:off x="7253727" y="1046658"/>
            <a:ext cx="2642245" cy="510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lnSpc>
                <a:spcPct val="120000"/>
              </a:lnSpc>
              <a:defRPr b="1" sz="4000">
                <a:solidFill>
                  <a:srgbClr val="1F2937"/>
                </a:solidFill>
              </a:defRPr>
            </a:lvl1pPr>
          </a:lstStyle>
          <a:p>
            <a:pPr/>
            <a:r>
              <a:t>System Flow</a:t>
            </a:r>
          </a:p>
        </p:txBody>
      </p:sp>
      <p:sp>
        <p:nvSpPr>
          <p:cNvPr id="131" name="Shape 3"/>
          <p:cNvSpPr/>
          <p:nvPr/>
        </p:nvSpPr>
        <p:spPr>
          <a:xfrm>
            <a:off x="4318000" y="1841500"/>
            <a:ext cx="7620000" cy="63500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2" name="Text 4"/>
          <p:cNvSpPr txBox="1"/>
          <p:nvPr/>
        </p:nvSpPr>
        <p:spPr>
          <a:xfrm>
            <a:off x="6285817" y="2038176"/>
            <a:ext cx="3684366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Smart Meter + PIR Sensor + Smart Plug</a:t>
            </a:r>
          </a:p>
        </p:txBody>
      </p:sp>
      <p:sp>
        <p:nvSpPr>
          <p:cNvPr id="133" name="Shape 5"/>
          <p:cNvSpPr/>
          <p:nvPr/>
        </p:nvSpPr>
        <p:spPr>
          <a:xfrm>
            <a:off x="8128000" y="2476500"/>
            <a:ext cx="0" cy="317500"/>
          </a:xfrm>
          <a:prstGeom prst="line">
            <a:avLst/>
          </a:prstGeom>
          <a:ln w="25400">
            <a:solidFill>
              <a:srgbClr val="2F5496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34" name="Shape 6"/>
          <p:cNvSpPr/>
          <p:nvPr/>
        </p:nvSpPr>
        <p:spPr>
          <a:xfrm>
            <a:off x="4318000" y="2794000"/>
            <a:ext cx="7620000" cy="635000"/>
          </a:xfrm>
          <a:prstGeom prst="roundRect">
            <a:avLst>
              <a:gd name="adj" fmla="val 15000"/>
            </a:avLst>
          </a:prstGeom>
          <a:solidFill>
            <a:srgbClr val="2F549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5" name="Text 7"/>
          <p:cNvSpPr txBox="1"/>
          <p:nvPr/>
        </p:nvSpPr>
        <p:spPr>
          <a:xfrm>
            <a:off x="7051426" y="2990676"/>
            <a:ext cx="2153147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Energy Data Collection</a:t>
            </a:r>
          </a:p>
        </p:txBody>
      </p:sp>
      <p:sp>
        <p:nvSpPr>
          <p:cNvPr id="136" name="Shape 8"/>
          <p:cNvSpPr/>
          <p:nvPr/>
        </p:nvSpPr>
        <p:spPr>
          <a:xfrm>
            <a:off x="8128000" y="3429000"/>
            <a:ext cx="0" cy="317500"/>
          </a:xfrm>
          <a:prstGeom prst="line">
            <a:avLst/>
          </a:prstGeom>
          <a:ln w="25400">
            <a:solidFill>
              <a:srgbClr val="2F5496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37" name="Shape 9"/>
          <p:cNvSpPr/>
          <p:nvPr/>
        </p:nvSpPr>
        <p:spPr>
          <a:xfrm>
            <a:off x="4318000" y="3746500"/>
            <a:ext cx="7620000" cy="635000"/>
          </a:xfrm>
          <a:prstGeom prst="roundRect">
            <a:avLst>
              <a:gd name="adj" fmla="val 15000"/>
            </a:avLst>
          </a:prstGeom>
          <a:solidFill>
            <a:srgbClr val="2F549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8" name="Text 10"/>
          <p:cNvSpPr txBox="1"/>
          <p:nvPr/>
        </p:nvSpPr>
        <p:spPr>
          <a:xfrm>
            <a:off x="6978705" y="3943176"/>
            <a:ext cx="2298590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Intelligent Data Analysis</a:t>
            </a:r>
          </a:p>
        </p:txBody>
      </p:sp>
      <p:sp>
        <p:nvSpPr>
          <p:cNvPr id="139" name="Shape 11"/>
          <p:cNvSpPr/>
          <p:nvPr/>
        </p:nvSpPr>
        <p:spPr>
          <a:xfrm>
            <a:off x="8128000" y="4381500"/>
            <a:ext cx="0" cy="317500"/>
          </a:xfrm>
          <a:prstGeom prst="line">
            <a:avLst/>
          </a:prstGeom>
          <a:ln w="25400">
            <a:solidFill>
              <a:srgbClr val="2F5496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40" name="Shape 12"/>
          <p:cNvSpPr/>
          <p:nvPr/>
        </p:nvSpPr>
        <p:spPr>
          <a:xfrm>
            <a:off x="4318000" y="4699000"/>
            <a:ext cx="7620000" cy="635000"/>
          </a:xfrm>
          <a:prstGeom prst="roundRect">
            <a:avLst>
              <a:gd name="adj" fmla="val 15000"/>
            </a:avLst>
          </a:prstGeom>
          <a:solidFill>
            <a:schemeClr val="accent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1" name="Text 13"/>
          <p:cNvSpPr txBox="1"/>
          <p:nvPr/>
        </p:nvSpPr>
        <p:spPr>
          <a:xfrm>
            <a:off x="6958000" y="4895676"/>
            <a:ext cx="2340000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50% / 75% / 100% Alerts</a:t>
            </a:r>
          </a:p>
        </p:txBody>
      </p:sp>
      <p:sp>
        <p:nvSpPr>
          <p:cNvPr id="142" name="Shape 14"/>
          <p:cNvSpPr/>
          <p:nvPr/>
        </p:nvSpPr>
        <p:spPr>
          <a:xfrm>
            <a:off x="8128000" y="5334000"/>
            <a:ext cx="0" cy="317500"/>
          </a:xfrm>
          <a:prstGeom prst="line">
            <a:avLst/>
          </a:prstGeom>
          <a:ln w="25400">
            <a:solidFill>
              <a:srgbClr val="2F5496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43" name="Shape 15"/>
          <p:cNvSpPr/>
          <p:nvPr/>
        </p:nvSpPr>
        <p:spPr>
          <a:xfrm>
            <a:off x="4318000" y="5651500"/>
            <a:ext cx="7620000" cy="635000"/>
          </a:xfrm>
          <a:prstGeom prst="roundRect">
            <a:avLst>
              <a:gd name="adj" fmla="val 15000"/>
            </a:avLst>
          </a:prstGeom>
          <a:solidFill>
            <a:srgbClr val="2F549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4" name="Text 16"/>
          <p:cNvSpPr txBox="1"/>
          <p:nvPr/>
        </p:nvSpPr>
        <p:spPr>
          <a:xfrm>
            <a:off x="6908384" y="5848176"/>
            <a:ext cx="2439232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Automatic Device Control</a:t>
            </a:r>
          </a:p>
        </p:txBody>
      </p:sp>
      <p:sp>
        <p:nvSpPr>
          <p:cNvPr id="145" name="Shape 17"/>
          <p:cNvSpPr/>
          <p:nvPr/>
        </p:nvSpPr>
        <p:spPr>
          <a:xfrm>
            <a:off x="8128000" y="6286500"/>
            <a:ext cx="0" cy="317500"/>
          </a:xfrm>
          <a:prstGeom prst="line">
            <a:avLst/>
          </a:prstGeom>
          <a:ln w="25400">
            <a:solidFill>
              <a:srgbClr val="2F5496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46" name="Shape 18"/>
          <p:cNvSpPr/>
          <p:nvPr/>
        </p:nvSpPr>
        <p:spPr>
          <a:xfrm>
            <a:off x="4318000" y="6604000"/>
            <a:ext cx="7620000" cy="635000"/>
          </a:xfrm>
          <a:prstGeom prst="roundRect">
            <a:avLst>
              <a:gd name="adj" fmla="val 15000"/>
            </a:avLst>
          </a:prstGeom>
          <a:solidFill>
            <a:srgbClr val="2F549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7" name="Text 19"/>
          <p:cNvSpPr txBox="1"/>
          <p:nvPr/>
        </p:nvSpPr>
        <p:spPr>
          <a:xfrm>
            <a:off x="6798326" y="6800676"/>
            <a:ext cx="2659348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Dashboard + Tree Indicators</a:t>
            </a:r>
          </a:p>
        </p:txBody>
      </p:sp>
      <p:sp>
        <p:nvSpPr>
          <p:cNvPr id="148" name="Shape 20"/>
          <p:cNvSpPr/>
          <p:nvPr/>
        </p:nvSpPr>
        <p:spPr>
          <a:xfrm>
            <a:off x="8128000" y="7239000"/>
            <a:ext cx="0" cy="317500"/>
          </a:xfrm>
          <a:prstGeom prst="line">
            <a:avLst/>
          </a:prstGeom>
          <a:ln w="25400">
            <a:solidFill>
              <a:srgbClr val="2F5496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49" name="Shape 21"/>
          <p:cNvSpPr/>
          <p:nvPr/>
        </p:nvSpPr>
        <p:spPr>
          <a:xfrm>
            <a:off x="4318000" y="7556500"/>
            <a:ext cx="7620000" cy="635000"/>
          </a:xfrm>
          <a:prstGeom prst="roundRect">
            <a:avLst>
              <a:gd name="adj" fmla="val 15000"/>
            </a:avLst>
          </a:prstGeom>
          <a:solidFill>
            <a:srgbClr val="2F549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0" name="Text 22"/>
          <p:cNvSpPr txBox="1"/>
          <p:nvPr/>
        </p:nvSpPr>
        <p:spPr>
          <a:xfrm>
            <a:off x="6981663" y="7753176"/>
            <a:ext cx="2292674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Leaderboard &amp; Rewards</a:t>
            </a:r>
          </a:p>
        </p:txBody>
      </p:sp>
      <p:sp>
        <p:nvSpPr>
          <p:cNvPr id="151" name="Text 23"/>
          <p:cNvSpPr txBox="1"/>
          <p:nvPr/>
        </p:nvSpPr>
        <p:spPr>
          <a:xfrm>
            <a:off x="3291978" y="2054423"/>
            <a:ext cx="772023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 algn="r">
              <a:defRPr b="1" sz="1600">
                <a:solidFill>
                  <a:srgbClr val="2F5496"/>
                </a:solidFill>
              </a:defRPr>
            </a:pPr>
            <a:r>
              <a:t>INPUT</a:t>
            </a:r>
            <a:r>
              <a:rPr b="0"/>
              <a:t> →</a:t>
            </a:r>
          </a:p>
        </p:txBody>
      </p:sp>
      <p:sp>
        <p:nvSpPr>
          <p:cNvPr id="152" name="Text 24"/>
          <p:cNvSpPr txBox="1"/>
          <p:nvPr/>
        </p:nvSpPr>
        <p:spPr>
          <a:xfrm>
            <a:off x="3066653" y="3895923"/>
            <a:ext cx="997348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 algn="r">
              <a:defRPr b="1" sz="1600">
                <a:solidFill>
                  <a:srgbClr val="2F5496"/>
                </a:solidFill>
              </a:defRPr>
            </a:pPr>
            <a:r>
              <a:t>PROCESS</a:t>
            </a:r>
            <a:r>
              <a:rPr b="0"/>
              <a:t> →</a:t>
            </a:r>
          </a:p>
        </p:txBody>
      </p:sp>
      <p:sp>
        <p:nvSpPr>
          <p:cNvPr id="153" name="Text 25"/>
          <p:cNvSpPr txBox="1"/>
          <p:nvPr/>
        </p:nvSpPr>
        <p:spPr>
          <a:xfrm>
            <a:off x="3109317" y="6816923"/>
            <a:ext cx="954683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 algn="r">
              <a:defRPr b="1" sz="1600">
                <a:solidFill>
                  <a:srgbClr val="27AE60"/>
                </a:solidFill>
              </a:defRPr>
            </a:pPr>
            <a:r>
              <a:t>OUTPUT</a:t>
            </a:r>
            <a:r>
              <a:rPr b="0"/>
              <a:t> →</a:t>
            </a:r>
          </a:p>
        </p:txBody>
      </p:sp>
      <p:sp>
        <p:nvSpPr>
          <p:cNvPr id="154" name="Shape 26"/>
          <p:cNvSpPr/>
          <p:nvPr/>
        </p:nvSpPr>
        <p:spPr>
          <a:xfrm>
            <a:off x="4318000" y="8382000"/>
            <a:ext cx="7620000" cy="571500"/>
          </a:xfrm>
          <a:prstGeom prst="roundRect">
            <a:avLst>
              <a:gd name="adj" fmla="val 15000"/>
            </a:avLst>
          </a:prstGeom>
          <a:solidFill>
            <a:srgbClr val="27AE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5" name="Text 27"/>
          <p:cNvSpPr txBox="1"/>
          <p:nvPr/>
        </p:nvSpPr>
        <p:spPr>
          <a:xfrm>
            <a:off x="6545994" y="8543379"/>
            <a:ext cx="3164012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Reduced Energy Consumption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0"/>
          <p:cNvSpPr/>
          <p:nvPr/>
        </p:nvSpPr>
        <p:spPr>
          <a:xfrm>
            <a:off x="0" y="0"/>
            <a:ext cx="898398" cy="914400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8" name="Text 1"/>
          <p:cNvSpPr txBox="1"/>
          <p:nvPr/>
        </p:nvSpPr>
        <p:spPr>
          <a:xfrm>
            <a:off x="1116584" y="398506"/>
            <a:ext cx="5579170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2400">
                <a:solidFill>
                  <a:srgbClr val="1F2937"/>
                </a:solidFill>
              </a:defRPr>
            </a:pPr>
            <a:r>
              <a:t>Theme:</a:t>
            </a:r>
            <a:r>
              <a:rPr b="0"/>
              <a:t> Energy Conservation and Digitization</a:t>
            </a:r>
          </a:p>
        </p:txBody>
      </p:sp>
      <p:sp>
        <p:nvSpPr>
          <p:cNvPr id="159" name="Text 2"/>
          <p:cNvSpPr txBox="1"/>
          <p:nvPr/>
        </p:nvSpPr>
        <p:spPr>
          <a:xfrm>
            <a:off x="5750066" y="1046658"/>
            <a:ext cx="5649567" cy="510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lnSpc>
                <a:spcPct val="120000"/>
              </a:lnSpc>
              <a:defRPr b="1" sz="4000">
                <a:solidFill>
                  <a:srgbClr val="1F2937"/>
                </a:solidFill>
              </a:defRPr>
            </a:lvl1pPr>
          </a:lstStyle>
          <a:p>
            <a:pPr/>
            <a:r>
              <a:t>Future Scope &amp; Conclusion</a:t>
            </a:r>
          </a:p>
        </p:txBody>
      </p:sp>
      <p:sp>
        <p:nvSpPr>
          <p:cNvPr id="160" name="Shape 3"/>
          <p:cNvSpPr/>
          <p:nvPr/>
        </p:nvSpPr>
        <p:spPr>
          <a:xfrm>
            <a:off x="1193800" y="1879600"/>
            <a:ext cx="7048500" cy="40640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1" name="Shape 4"/>
          <p:cNvSpPr/>
          <p:nvPr/>
        </p:nvSpPr>
        <p:spPr>
          <a:xfrm>
            <a:off x="1441830" y="2095492"/>
            <a:ext cx="386978" cy="3869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32" h="20931" fill="norm" stroke="1" extrusionOk="0">
                <a:moveTo>
                  <a:pt x="5819" y="12366"/>
                </a:moveTo>
                <a:lnTo>
                  <a:pt x="1375" y="12366"/>
                </a:lnTo>
                <a:cubicBezTo>
                  <a:pt x="306" y="12366"/>
                  <a:pt x="-351" y="11202"/>
                  <a:pt x="199" y="10283"/>
                </a:cubicBezTo>
                <a:lnTo>
                  <a:pt x="2470" y="6497"/>
                </a:lnTo>
                <a:cubicBezTo>
                  <a:pt x="2843" y="5874"/>
                  <a:pt x="3513" y="5496"/>
                  <a:pt x="4239" y="5496"/>
                </a:cubicBezTo>
                <a:lnTo>
                  <a:pt x="8317" y="5496"/>
                </a:lnTo>
                <a:cubicBezTo>
                  <a:pt x="11585" y="-38"/>
                  <a:pt x="16458" y="-317"/>
                  <a:pt x="19716" y="160"/>
                </a:cubicBezTo>
                <a:cubicBezTo>
                  <a:pt x="20266" y="241"/>
                  <a:pt x="20695" y="671"/>
                  <a:pt x="20772" y="1216"/>
                </a:cubicBezTo>
                <a:cubicBezTo>
                  <a:pt x="21249" y="4474"/>
                  <a:pt x="20970" y="9347"/>
                  <a:pt x="15436" y="12615"/>
                </a:cubicBezTo>
                <a:lnTo>
                  <a:pt x="15436" y="16693"/>
                </a:lnTo>
                <a:cubicBezTo>
                  <a:pt x="15436" y="17419"/>
                  <a:pt x="15058" y="18089"/>
                  <a:pt x="14435" y="18462"/>
                </a:cubicBezTo>
                <a:lnTo>
                  <a:pt x="10649" y="20733"/>
                </a:lnTo>
                <a:cubicBezTo>
                  <a:pt x="9734" y="21283"/>
                  <a:pt x="8566" y="20622"/>
                  <a:pt x="8566" y="19557"/>
                </a:cubicBezTo>
                <a:lnTo>
                  <a:pt x="8566" y="15113"/>
                </a:lnTo>
                <a:cubicBezTo>
                  <a:pt x="8566" y="13598"/>
                  <a:pt x="7334" y="12366"/>
                  <a:pt x="5819" y="12366"/>
                </a:cubicBezTo>
                <a:lnTo>
                  <a:pt x="5814" y="12366"/>
                </a:lnTo>
                <a:close/>
                <a:moveTo>
                  <a:pt x="17497" y="5496"/>
                </a:moveTo>
                <a:cubicBezTo>
                  <a:pt x="17497" y="4359"/>
                  <a:pt x="16573" y="3435"/>
                  <a:pt x="15436" y="3435"/>
                </a:cubicBezTo>
                <a:cubicBezTo>
                  <a:pt x="14298" y="3435"/>
                  <a:pt x="13375" y="4359"/>
                  <a:pt x="13375" y="5496"/>
                </a:cubicBezTo>
                <a:cubicBezTo>
                  <a:pt x="13375" y="6634"/>
                  <a:pt x="14298" y="7557"/>
                  <a:pt x="15436" y="7557"/>
                </a:cubicBezTo>
                <a:cubicBezTo>
                  <a:pt x="16573" y="7557"/>
                  <a:pt x="17497" y="6634"/>
                  <a:pt x="17497" y="5496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2" name="Text 5"/>
          <p:cNvSpPr txBox="1"/>
          <p:nvPr/>
        </p:nvSpPr>
        <p:spPr>
          <a:xfrm>
            <a:off x="1981200" y="2109341"/>
            <a:ext cx="1938809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lnSpc>
                <a:spcPct val="130000"/>
              </a:lnSpc>
              <a:defRPr b="1" sz="2800">
                <a:solidFill>
                  <a:srgbClr val="2F5496"/>
                </a:solidFill>
              </a:defRPr>
            </a:lvl1pPr>
          </a:lstStyle>
          <a:p>
            <a:pPr/>
            <a:r>
              <a:t>Future Scope</a:t>
            </a:r>
          </a:p>
        </p:txBody>
      </p:sp>
      <p:sp>
        <p:nvSpPr>
          <p:cNvPr id="163" name="Text 6"/>
          <p:cNvSpPr txBox="1"/>
          <p:nvPr/>
        </p:nvSpPr>
        <p:spPr>
          <a:xfrm>
            <a:off x="1447800" y="2641600"/>
            <a:ext cx="6540500" cy="2394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17500" indent="-317500">
              <a:lnSpc>
                <a:spcPct val="150000"/>
              </a:lnSpc>
              <a:buSzPct val="100000"/>
              <a:buChar char="•"/>
              <a:defRPr sz="2000">
                <a:solidFill>
                  <a:srgbClr val="1F2937"/>
                </a:solidFill>
              </a:defRPr>
            </a:pPr>
            <a:r>
              <a:t>AI-based predictive energy optimization</a:t>
            </a:r>
          </a:p>
          <a:p>
            <a:pPr marL="317500" indent="-317500">
              <a:lnSpc>
                <a:spcPct val="150000"/>
              </a:lnSpc>
              <a:buSzPct val="100000"/>
              <a:buChar char="•"/>
              <a:defRPr sz="2000">
                <a:solidFill>
                  <a:srgbClr val="1F2937"/>
                </a:solidFill>
              </a:defRPr>
            </a:pPr>
            <a:r>
              <a:t>Mobile app integration</a:t>
            </a:r>
          </a:p>
          <a:p>
            <a:pPr marL="317500" indent="-317500">
              <a:lnSpc>
                <a:spcPct val="150000"/>
              </a:lnSpc>
              <a:buSzPct val="100000"/>
              <a:buChar char="•"/>
              <a:defRPr sz="2000">
                <a:solidFill>
                  <a:srgbClr val="1F2937"/>
                </a:solidFill>
              </a:defRPr>
            </a:pPr>
            <a:r>
              <a:t>Solar energy integration</a:t>
            </a:r>
          </a:p>
          <a:p>
            <a:pPr marL="317500" indent="-317500">
              <a:lnSpc>
                <a:spcPct val="150000"/>
              </a:lnSpc>
              <a:buSzPct val="100000"/>
              <a:buChar char="•"/>
              <a:defRPr sz="2000">
                <a:solidFill>
                  <a:srgbClr val="1F2937"/>
                </a:solidFill>
              </a:defRPr>
            </a:pPr>
            <a:r>
              <a:t>Voice-controlled automation</a:t>
            </a:r>
          </a:p>
          <a:p>
            <a:pPr marL="317500" indent="-317500">
              <a:lnSpc>
                <a:spcPct val="150000"/>
              </a:lnSpc>
              <a:buSzPct val="100000"/>
              <a:buChar char="•"/>
              <a:defRPr sz="2000">
                <a:solidFill>
                  <a:srgbClr val="1F2937"/>
                </a:solidFill>
              </a:defRPr>
            </a:pPr>
            <a:r>
              <a:t>Smart campus expansion</a:t>
            </a:r>
          </a:p>
          <a:p>
            <a:pPr marL="317500" indent="-317500">
              <a:lnSpc>
                <a:spcPct val="150000"/>
              </a:lnSpc>
              <a:buSzPct val="100000"/>
              <a:buChar char="•"/>
              <a:defRPr sz="2000">
                <a:solidFill>
                  <a:srgbClr val="1F2937"/>
                </a:solidFill>
              </a:defRPr>
            </a:pPr>
            <a:r>
              <a:t>Cloud-based analytics</a:t>
            </a:r>
          </a:p>
        </p:txBody>
      </p:sp>
      <p:sp>
        <p:nvSpPr>
          <p:cNvPr id="164" name="Shape 7"/>
          <p:cNvSpPr/>
          <p:nvPr/>
        </p:nvSpPr>
        <p:spPr>
          <a:xfrm>
            <a:off x="8496300" y="1879600"/>
            <a:ext cx="7048500" cy="40640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5" name="Shape 8"/>
          <p:cNvSpPr/>
          <p:nvPr/>
        </p:nvSpPr>
        <p:spPr>
          <a:xfrm>
            <a:off x="8801100" y="2070100"/>
            <a:ext cx="304800" cy="4191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476" y="15709"/>
                </a:moveTo>
                <a:cubicBezTo>
                  <a:pt x="16886" y="14797"/>
                  <a:pt x="17707" y="13970"/>
                  <a:pt x="18636" y="13259"/>
                </a:cubicBezTo>
                <a:cubicBezTo>
                  <a:pt x="20475" y="11851"/>
                  <a:pt x="21600" y="9949"/>
                  <a:pt x="21600" y="7855"/>
                </a:cubicBezTo>
                <a:cubicBezTo>
                  <a:pt x="21600" y="3518"/>
                  <a:pt x="16762" y="0"/>
                  <a:pt x="10800" y="0"/>
                </a:cubicBezTo>
                <a:cubicBezTo>
                  <a:pt x="4837" y="0"/>
                  <a:pt x="0" y="3518"/>
                  <a:pt x="0" y="7855"/>
                </a:cubicBezTo>
                <a:cubicBezTo>
                  <a:pt x="0" y="9949"/>
                  <a:pt x="1125" y="11851"/>
                  <a:pt x="2964" y="13259"/>
                </a:cubicBezTo>
                <a:cubicBezTo>
                  <a:pt x="3893" y="13970"/>
                  <a:pt x="4719" y="14797"/>
                  <a:pt x="5124" y="15709"/>
                </a:cubicBezTo>
                <a:lnTo>
                  <a:pt x="16470" y="15709"/>
                </a:lnTo>
                <a:close/>
                <a:moveTo>
                  <a:pt x="16200" y="17673"/>
                </a:moveTo>
                <a:lnTo>
                  <a:pt x="5400" y="17673"/>
                </a:lnTo>
                <a:lnTo>
                  <a:pt x="5400" y="18327"/>
                </a:lnTo>
                <a:cubicBezTo>
                  <a:pt x="5400" y="20135"/>
                  <a:pt x="7414" y="21600"/>
                  <a:pt x="9900" y="21600"/>
                </a:cubicBezTo>
                <a:lnTo>
                  <a:pt x="11700" y="21600"/>
                </a:lnTo>
                <a:cubicBezTo>
                  <a:pt x="14186" y="21600"/>
                  <a:pt x="16200" y="20135"/>
                  <a:pt x="16200" y="18327"/>
                </a:cubicBezTo>
                <a:lnTo>
                  <a:pt x="16200" y="17673"/>
                </a:lnTo>
                <a:close/>
                <a:moveTo>
                  <a:pt x="10350" y="4582"/>
                </a:moveTo>
                <a:cubicBezTo>
                  <a:pt x="8111" y="4582"/>
                  <a:pt x="6300" y="5899"/>
                  <a:pt x="6300" y="7527"/>
                </a:cubicBezTo>
                <a:cubicBezTo>
                  <a:pt x="6300" y="8071"/>
                  <a:pt x="5698" y="8509"/>
                  <a:pt x="4950" y="8509"/>
                </a:cubicBezTo>
                <a:cubicBezTo>
                  <a:pt x="4202" y="8509"/>
                  <a:pt x="3600" y="8071"/>
                  <a:pt x="3600" y="7527"/>
                </a:cubicBezTo>
                <a:cubicBezTo>
                  <a:pt x="3600" y="4815"/>
                  <a:pt x="6621" y="2618"/>
                  <a:pt x="10350" y="2618"/>
                </a:cubicBezTo>
                <a:cubicBezTo>
                  <a:pt x="11098" y="2618"/>
                  <a:pt x="11700" y="3056"/>
                  <a:pt x="11700" y="3600"/>
                </a:cubicBezTo>
                <a:cubicBezTo>
                  <a:pt x="11700" y="4144"/>
                  <a:pt x="11098" y="4582"/>
                  <a:pt x="10350" y="4582"/>
                </a:cubicBezTo>
                <a:close/>
              </a:path>
            </a:pathLst>
          </a:custGeom>
          <a:solidFill>
            <a:srgbClr val="F39C1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6" name="Text 9"/>
          <p:cNvSpPr txBox="1"/>
          <p:nvPr/>
        </p:nvSpPr>
        <p:spPr>
          <a:xfrm>
            <a:off x="9283700" y="2109341"/>
            <a:ext cx="1619499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lnSpc>
                <a:spcPct val="130000"/>
              </a:lnSpc>
              <a:defRPr b="1" sz="2800">
                <a:solidFill>
                  <a:srgbClr val="2F5496"/>
                </a:solidFill>
              </a:defRPr>
            </a:lvl1pPr>
          </a:lstStyle>
          <a:p>
            <a:pPr/>
            <a:r>
              <a:t>Key Insight</a:t>
            </a:r>
          </a:p>
        </p:txBody>
      </p:sp>
      <p:sp>
        <p:nvSpPr>
          <p:cNvPr id="167" name="Text 10"/>
          <p:cNvSpPr txBox="1"/>
          <p:nvPr/>
        </p:nvSpPr>
        <p:spPr>
          <a:xfrm>
            <a:off x="8750300" y="2641600"/>
            <a:ext cx="6540500" cy="1156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0000"/>
              </a:lnSpc>
              <a:defRPr i="1" sz="2000">
                <a:solidFill>
                  <a:srgbClr val="1F2937"/>
                </a:solidFill>
              </a:defRPr>
            </a:lvl1pPr>
          </a:lstStyle>
          <a:p>
            <a:pPr/>
            <a:r>
              <a:t>"People do not change behavior just by seeing data. They change behavior when the system is simple, engaging, automated, competitive, and rewarding."</a:t>
            </a:r>
          </a:p>
        </p:txBody>
      </p:sp>
      <p:sp>
        <p:nvSpPr>
          <p:cNvPr id="168" name="Shape 11"/>
          <p:cNvSpPr/>
          <p:nvPr/>
        </p:nvSpPr>
        <p:spPr>
          <a:xfrm>
            <a:off x="1193800" y="6223000"/>
            <a:ext cx="14351000" cy="1270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9" name="Text 12"/>
          <p:cNvSpPr txBox="1"/>
          <p:nvPr/>
        </p:nvSpPr>
        <p:spPr>
          <a:xfrm>
            <a:off x="1447800" y="6459748"/>
            <a:ext cx="13843000" cy="7965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50000"/>
              </a:lnSpc>
              <a:defRPr b="1" sz="2200">
                <a:solidFill>
                  <a:srgbClr val="FFFFFF"/>
                </a:solidFill>
              </a:defRPr>
            </a:pPr>
            <a:r>
              <a:t>"Our system not only monitors electricity usage but also creates</a:t>
            </a:r>
            <a:endParaRPr sz="1600"/>
          </a:p>
          <a:p>
            <a:pPr algn="ctr">
              <a:lnSpc>
                <a:spcPct val="150000"/>
              </a:lnSpc>
              <a:defRPr b="1" sz="2200">
                <a:solidFill>
                  <a:srgbClr val="FFFFFF"/>
                </a:solidFill>
              </a:defRPr>
            </a:pPr>
            <a:r>
              <a:t>awareness, accountability, automation, and motivation to achieve real energy-saving behavior."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Custom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Custom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Custom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Custom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Custom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Custom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